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7" r:id="rId22"/>
    <p:sldId id="285" r:id="rId36"/>
    <p:sldId id="281" r:id="rId32"/>
    <p:sldId id="258" r:id="rId4"/>
    <p:sldId id="259" r:id="rId5"/>
    <p:sldId id="261" r:id="rId7"/>
    <p:sldId id="282" r:id="rId33"/>
    <p:sldId id="277" r:id="rId28"/>
    <p:sldId id="278" r:id="rId29"/>
    <p:sldId id="279" r:id="rId30"/>
    <p:sldId id="280" r:id="rId31"/>
    <p:sldId id="257" r:id="rId3"/>
    <p:sldId id="288" r:id="rId21"/>
    <p:sldId id="286" r:id="rId37"/>
    <p:sldId id="284" r:id="rId35"/>
    <p:sldId id="283" r:id="rId34"/>
    <p:sldId id="271" r:id="rId17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3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7" Type="http://schemas.openxmlformats.org/officeDocument/2006/relationships/slide" Target="slides/slide7.xml"/><Relationship Id="rId17" Type="http://schemas.openxmlformats.org/officeDocument/2006/relationships/slide" Target="slides/slide18.xml"/><Relationship Id="rId21" Type="http://schemas.openxmlformats.org/officeDocument/2006/relationships/slide" Target="slides/slide14.xml"/><Relationship Id="rId22" Type="http://schemas.openxmlformats.org/officeDocument/2006/relationships/slide" Target="slides/slide2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4.xml"/><Relationship Id="rId33" Type="http://schemas.openxmlformats.org/officeDocument/2006/relationships/slide" Target="slides/slide8.xml"/><Relationship Id="rId34" Type="http://schemas.openxmlformats.org/officeDocument/2006/relationships/slide" Target="slides/slide17.xml"/><Relationship Id="rId35" Type="http://schemas.openxmlformats.org/officeDocument/2006/relationships/slide" Target="slides/slide16.xml"/><Relationship Id="rId36" Type="http://schemas.openxmlformats.org/officeDocument/2006/relationships/slide" Target="slides/slide3.xml"/><Relationship Id="rId37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added</c:v>
                </c:pt>
              </c:strCache>
            </c:strRef>
          </c:tx>
          <c:spPr>
            <a:solidFill>
              <a:srgbClr val="00AAF5"/>
            </a:solidFill>
            <a:ln w="38100" cap="flat">
              <a:solidFill>
                <a:srgbClr val="00AAF5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AAF5"/>
              </a:solidFill>
              <a:ln w="9525" cap="flat">
                <a:solidFill>
                  <a:srgbClr val="00AA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Primary</c:v>
                  </c:pt>
                  <c:pt idx="1">
                    <c:v>Secondary</c:v>
                  </c:pt>
                  <c:pt idx="2">
                    <c:v>College</c:v>
                  </c:pt>
                  <c:pt idx="3">
                    <c:v>BSc</c:v>
                  </c:pt>
                  <c:pt idx="4">
                    <c:v>MSc</c:v>
                  </c:pt>
                  <c:pt idx="5">
                    <c:v>PhD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0.9</c:v>
                </c:pt>
                <c:pt idx="2">
                  <c:v>1.04</c:v>
                </c:pt>
                <c:pt idx="3">
                  <c:v>1.02</c:v>
                </c:pt>
                <c:pt idx="4">
                  <c:v>1.02</c:v>
                </c:pt>
                <c:pt idx="5">
                  <c:v>1.07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.8"/>
        </c:scaling>
        <c:delete val="0"/>
        <c:axPos val="l"/>
        <c:majorGridlines>
          <c:spPr>
            <a:ln w="6350" cap="flat">
              <a:solidFill>
                <a:srgbClr val="E8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hyperlink" Target="https://kewordal.com/disclaimer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9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10-3.png"/><Relationship Id="rId6" Type="http://schemas.openxmlformats.org/officeDocument/2006/relationships/image" Target="../media/image13.png"/><Relationship Id="rId7" Type="http://schemas.openxmlformats.org/officeDocument/2006/relationships/image" Target="../media/image-10-1.png"/><Relationship Id="rId8" Type="http://schemas.openxmlformats.org/officeDocument/2006/relationships/image" Target="../media/image-1-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6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-3-1.png"/><Relationship Id="rId8" Type="http://schemas.openxmlformats.org/officeDocument/2006/relationships/image" Target="../media/image-10-3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7.png"/><Relationship Id="rId6" Type="http://schemas.openxmlformats.org/officeDocument/2006/relationships/image" Target="../media/image-1-5.png"/><Relationship Id="rId7" Type="http://schemas.openxmlformats.org/officeDocument/2006/relationships/hyperlink" Target="https://kewordal.com" TargetMode="External"/><Relationship Id="rId8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hyperlink" Target="https://kewordal.com" TargetMode="External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-10-3.png"/><Relationship Id="rId6" Type="http://schemas.openxmlformats.org/officeDocument/2006/relationships/image" Target="../media/image13.png"/><Relationship Id="rId7" Type="http://schemas.openxmlformats.org/officeDocument/2006/relationships/image" Target="../media/image-10-1.png"/><Relationship Id="rId8" Type="http://schemas.openxmlformats.org/officeDocument/2006/relationships/image" Target="../media/image-1-4.png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-16-1.png"/><Relationship Id="rId11" Type="http://schemas.openxmlformats.org/officeDocument/2006/relationships/notesSlide" Target="../notesSlides/notesSlide11.xml"/><Relationship Id="rId12" Type="http://schemas.openxmlformats.org/officeDocument/2006/relationships/hyperlink" Target="https://keworda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6.jpg"/><Relationship Id="rId5" Type="http://schemas.openxmlformats.org/officeDocument/2006/relationships/hyperlink" Target="https://kewordal.com" TargetMode="External"/><Relationship Id="rId6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image" Target="../media/image6.jpg"/><Relationship Id="rId4" Type="http://schemas.openxmlformats.org/officeDocument/2006/relationships/hyperlink" Target="https://kewordal.com" TargetMode="External"/><Relationship Id="rId5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13.xml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23.jpg"/><Relationship Id="rId6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hyperlink" Target="https://keworda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58521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0632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0AA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Barclays: become a Pioneer Sponsor in Banking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731520" y="3977639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An invitation to sponsor learners and lead banking’s contribution to education.</a:t>
            </a:r>
            <a:endParaRPr lang="en-US" sz="14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600" i="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Kewordal: the Tech for Good, AI-powered social learning education network.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5623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October 2026  |  Private &amp; Confidential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548640" y="64922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Strictly Private &amp; Confidential</a:t>
            </a:r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 –  </a:t>
            </a:r>
            <a:pPr algn="ctr" indent="0" marL="0">
              <a:buNone/>
            </a:pPr>
            <a:r>
              <a:rPr lang="en-US" sz="1050" u="sng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Disclaimer</a:t>
            </a:r>
            <a:endParaRPr lang="en-US" sz="1050" dirty="0"/>
          </a:p>
        </p:txBody>
      </p:sp>
      <p:sp>
        <p:nvSpPr>
          <p:cNvPr id="19" name="TextBox 18"/>
          <p:cNvSpPr txBox="1"/>
          <p:nvPr/>
        </p:nvSpPr>
        <p:spPr>
          <a:xfrm>
            <a:off x="731520" y="73152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7085"/>
                </a:solidFill>
                <a:latin typeface="Arial Narrow"/>
              </a:rPr>
              <a:t>Prepared for Barclays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463040"/>
            <a:ext cx="64008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400" b="0" i="0">
                <a:solidFill>
                  <a:srgbClr val="667085"/>
                </a:solidFill>
                <a:latin typeface="Arial Narrow"/>
              </a:rPr>
              <a:t>+</a:t>
            </a:r>
          </a:p>
        </p:txBody>
      </p:sp>
      <p:sp>
        <p:nvSpPr>
          <p:cNvPr id="21" name="Barclays logo"/>
          <p:cNvSpPr/>
          <p:nvPr/>
        </p:nvSpPr>
        <p:spPr>
          <a:xfrm>
            <a:off x="7406640" y="132588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x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1231" y="1615162"/>
            <a:ext cx="3877055" cy="7930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Barclays and Kewordal at a glance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Kewordal is business’s answer to supporting education.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46304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1783080"/>
            <a:ext cx="914400" cy="91440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7" y="1984248"/>
            <a:ext cx="512064" cy="5120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2971800"/>
            <a:ext cx="2148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 Narrow"/>
              </a:rPr>
              <a:t>The offer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566160"/>
            <a:ext cx="2148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 Narrow"/>
              </a:rPr>
              <a:t>Sponsor learners on Kewordal, the Tech for Good, AI-powered social learning education network.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146304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57600" y="1783080"/>
            <a:ext cx="914400" cy="914400"/>
          </a:xfrm>
          <a:prstGeom prst="ellipse">
            <a:avLst/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reput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1984248"/>
            <a:ext cx="512064" cy="5120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11880" y="2971800"/>
            <a:ext cx="2148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 Narrow"/>
              </a:rPr>
              <a:t>Your brand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566160"/>
            <a:ext cx="2148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 Narrow"/>
              </a:rPr>
              <a:t>Barclays’ logo on every learner you sponsor, from launch, linking to your own page on Kewordal.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92240" y="1783080"/>
            <a:ext cx="914400" cy="914400"/>
          </a:xfrm>
          <a:prstGeom prst="ellipse">
            <a:avLst/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7" y="1984248"/>
            <a:ext cx="512064" cy="5120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46520" y="2971800"/>
            <a:ext cx="2148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 Narrow"/>
              </a:rPr>
              <a:t>Your place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566160"/>
            <a:ext cx="2148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 Narrow"/>
              </a:rPr>
              <a:t>One of only three Pioneer Sponsor places in banking, from £25,000, while places remain.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146304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26880" y="1783080"/>
            <a:ext cx="914400" cy="91440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048" y="1984248"/>
            <a:ext cx="512064" cy="5120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281160" y="2971800"/>
            <a:ext cx="2148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 Narrow"/>
              </a:rPr>
              <a:t>Next step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566160"/>
            <a:ext cx="2148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 Narrow"/>
              </a:rPr>
              <a:t>Packages from £2,995. Play the challenge on the next page, then let’s talk.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Your challenge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000" dirty="0"/>
          </a:p>
        </p:txBody>
      </p:sp>
      <p:pic>
        <p:nvPicPr>
          <p:cNvPr id="22" name="Picture 21" descr="kewordalit.jpg"/>
          <p:cNvPicPr>
            <a:picLocks noChangeAspect="1"/>
          </p:cNvPicPr>
          <p:nvPr/>
        </p:nvPicPr>
        <p:blipFill>
          <a:blip r:embed="rId5"/>
          <a:srcRect l="30" r="30"/>
          <a:stretch>
            <a:fillRect/>
          </a:stretch>
        </p:blipFill>
        <p:spPr>
          <a:xfrm>
            <a:off x="548640" y="1325880"/>
            <a:ext cx="5239512" cy="48920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72200" y="1325880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 Narrow"/>
              </a:rPr>
              <a:t>We built a Kewordal list about your career. Michael played it first.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286000"/>
            <a:ext cx="5486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0">
                <a:solidFill>
                  <a:srgbClr val="667085"/>
                </a:solidFill>
                <a:latin typeface="Arial Narrow"/>
              </a:rPr>
              <a:t>Drawn from public sources, with some of Barclays' story too. Can you beat his score on the one subject you should know best? It takes two minutes.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429000"/>
            <a:ext cx="5486400" cy="11887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474720"/>
            <a:ext cx="201168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 i="0">
                <a:solidFill>
                  <a:srgbClr val="667085"/>
                </a:solidFill>
                <a:latin typeface="Arial Narrow"/>
              </a:rPr>
              <a:t>Score to beat</a:t>
            </a:r>
          </a:p>
          <a:p>
            <a:pPr algn="l"/>
            <a:r>
              <a:rPr sz="1300" b="1" i="0">
                <a:solidFill>
                  <a:srgbClr val="222222"/>
                </a:solidFill>
                <a:latin typeface="Arial Narrow"/>
              </a:rPr>
              <a:t>Michael Watson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474720"/>
            <a:ext cx="306324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5400" b="1" i="0">
                <a:solidFill>
                  <a:srgbClr val="00AAF5"/>
                </a:solidFill>
                <a:latin typeface="Arial Narrow"/>
              </a:rPr>
              <a:t>[X]/10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800600"/>
            <a:ext cx="5486400" cy="731520"/>
          </a:xfrm>
          <a:prstGeom prst="roundRect">
            <a:avLst>
              <a:gd name="adj" fmla="val 8000"/>
            </a:avLst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4800600"/>
            <a:ext cx="54864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Narrow"/>
              </a:rPr>
              <a:t>Play the challenge:  </a:t>
            </a:r>
            <a:r>
              <a:rPr sz="1600" b="0" i="0">
                <a:solidFill>
                  <a:srgbClr val="FFFFFF"/>
                </a:solidFill>
                <a:latin typeface="Arial Narrow"/>
              </a:rPr>
              <a:t>[challenge link]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66928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rial Narrow"/>
              </a:rPr>
              <a:t>Win or lose, you will have experienced Kewordal before we ever meet.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Barclays at the centre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48640" y="1371600"/>
            <a:ext cx="3931920" cy="2148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 i="0">
                <a:solidFill>
                  <a:srgbClr val="00AAF5"/>
                </a:solidFill>
                <a:latin typeface="Arial Narrow"/>
              </a:rPr>
              <a:t>Kewordal is the vehicle for businesses to engage in education and social impact, globally.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222222"/>
                </a:solidFill>
                <a:latin typeface="Arial Narrow"/>
              </a:rPr>
              <a:t>At launch, Barclays sponsors learners and your logo appears on every one of their profiles. As Kewordal grows, that reach multiplies.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" y="3675888"/>
            <a:ext cx="237744" cy="237744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593592"/>
            <a:ext cx="34747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 Narrow"/>
              </a:rPr>
              <a:t>Stage 1  </a:t>
            </a:r>
            <a:r>
              <a:rPr sz="1500" b="0" i="0">
                <a:solidFill>
                  <a:srgbClr val="667085"/>
                </a:solidFill>
                <a:latin typeface="Arial Narrow"/>
              </a:rPr>
              <a:t>At launch</a:t>
            </a:r>
          </a:p>
        </p:txBody>
      </p:sp>
      <p:sp>
        <p:nvSpPr>
          <p:cNvPr id="25" name="Oval 24"/>
          <p:cNvSpPr/>
          <p:nvPr/>
        </p:nvSpPr>
        <p:spPr>
          <a:xfrm>
            <a:off x="566928" y="4133088"/>
            <a:ext cx="237744" cy="237744"/>
          </a:xfrm>
          <a:prstGeom prst="ellipse">
            <a:avLst/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50792"/>
            <a:ext cx="34747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 Narrow"/>
              </a:rPr>
              <a:t>Stage 2  </a:t>
            </a:r>
            <a:r>
              <a:rPr sz="1500" b="0" i="0">
                <a:solidFill>
                  <a:srgbClr val="667085"/>
                </a:solidFill>
                <a:latin typeface="Arial Narrow"/>
              </a:rPr>
              <a:t>As we grow</a:t>
            </a:r>
          </a:p>
        </p:txBody>
      </p:sp>
      <p:sp>
        <p:nvSpPr>
          <p:cNvPr id="27" name="Oval 26"/>
          <p:cNvSpPr/>
          <p:nvPr/>
        </p:nvSpPr>
        <p:spPr>
          <a:xfrm>
            <a:off x="566928" y="4590288"/>
            <a:ext cx="237744" cy="237744"/>
          </a:xfrm>
          <a:prstGeom prst="ellipse">
            <a:avLst/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07992"/>
            <a:ext cx="34747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 Narrow"/>
              </a:rPr>
              <a:t>Stage 3  </a:t>
            </a:r>
            <a:r>
              <a:rPr sz="1500" b="0" i="0">
                <a:solidFill>
                  <a:srgbClr val="667085"/>
                </a:solidFill>
                <a:latin typeface="Arial Narrow"/>
              </a:rPr>
              <a:t>Later, on our roadmap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5704508" y="2743200"/>
            <a:ext cx="2296492" cy="86868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001000" y="1874520"/>
            <a:ext cx="0" cy="173736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001000" y="2743199"/>
            <a:ext cx="2296491" cy="868681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01000" y="3611880"/>
            <a:ext cx="2296491" cy="86868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3611880"/>
            <a:ext cx="0" cy="173736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704508" y="3611880"/>
            <a:ext cx="2296492" cy="86868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297058" y="3108960"/>
            <a:ext cx="0" cy="1005840"/>
          </a:xfrm>
          <a:prstGeom prst="line">
            <a:avLst/>
          </a:prstGeom>
          <a:ln w="50800">
            <a:solidFill>
              <a:srgbClr val="00A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858000" y="2468880"/>
            <a:ext cx="2286000" cy="228600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0A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clays logo"/>
          <p:cNvSpPr/>
          <p:nvPr/>
        </p:nvSpPr>
        <p:spPr>
          <a:xfrm>
            <a:off x="6995160" y="3191256"/>
            <a:ext cx="2011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logo_x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109" y="3426788"/>
            <a:ext cx="1809780" cy="370182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7635240" y="1508760"/>
            <a:ext cx="731520" cy="73152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l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1" y="1673351"/>
            <a:ext cx="402336" cy="40233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166360" y="1490472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400" b="1" i="0">
                <a:solidFill>
                  <a:srgbClr val="222222"/>
                </a:solidFill>
                <a:latin typeface="Arial Narrow"/>
              </a:rPr>
              <a:t>Pioneer Sponsor, Banking</a:t>
            </a:r>
          </a:p>
          <a:p>
            <a:pPr algn="r"/>
            <a:r>
              <a:rPr sz="1200" b="0" i="0">
                <a:solidFill>
                  <a:srgbClr val="667085"/>
                </a:solidFill>
                <a:latin typeface="Arial Narrow"/>
              </a:rPr>
              <a:t>Stage 1 · one of three places</a:t>
            </a:r>
          </a:p>
        </p:txBody>
      </p:sp>
      <p:sp>
        <p:nvSpPr>
          <p:cNvPr id="43" name="Oval 42"/>
          <p:cNvSpPr/>
          <p:nvPr/>
        </p:nvSpPr>
        <p:spPr>
          <a:xfrm>
            <a:off x="9931298" y="2377440"/>
            <a:ext cx="731520" cy="73152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5890" y="2542032"/>
            <a:ext cx="402336" cy="40233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54058" y="1572768"/>
            <a:ext cx="228600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Arial Narrow"/>
              </a:rPr>
              <a:t>Sponsored learners</a:t>
            </a:r>
          </a:p>
          <a:p>
            <a:pPr algn="ctr"/>
            <a:r>
              <a:rPr sz="1200" b="0" i="0">
                <a:solidFill>
                  <a:srgbClr val="667085"/>
                </a:solidFill>
                <a:latin typeface="Arial Narrow"/>
              </a:rPr>
              <a:t>Stage 1 · Barclays' logo on every profile</a:t>
            </a:r>
          </a:p>
        </p:txBody>
      </p:sp>
      <p:sp>
        <p:nvSpPr>
          <p:cNvPr id="46" name="Oval 45"/>
          <p:cNvSpPr/>
          <p:nvPr/>
        </p:nvSpPr>
        <p:spPr>
          <a:xfrm>
            <a:off x="9931298" y="4114800"/>
            <a:ext cx="731520" cy="731520"/>
          </a:xfrm>
          <a:prstGeom prst="ellipse">
            <a:avLst/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5890" y="4279392"/>
            <a:ext cx="402336" cy="40233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54058" y="489204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Arial Narrow"/>
              </a:rPr>
              <a:t>Social education influencers</a:t>
            </a:r>
          </a:p>
          <a:p>
            <a:pPr algn="ctr"/>
            <a:r>
              <a:rPr sz="1200" b="0" i="0">
                <a:solidFill>
                  <a:srgbClr val="667085"/>
                </a:solidFill>
                <a:latin typeface="Arial Narrow"/>
              </a:rPr>
              <a:t>Stage 2 · amplifying your logo</a:t>
            </a:r>
          </a:p>
        </p:txBody>
      </p:sp>
      <p:sp>
        <p:nvSpPr>
          <p:cNvPr id="49" name="Oval 48"/>
          <p:cNvSpPr/>
          <p:nvPr/>
        </p:nvSpPr>
        <p:spPr>
          <a:xfrm>
            <a:off x="7635240" y="4983480"/>
            <a:ext cx="731520" cy="731520"/>
          </a:xfrm>
          <a:prstGeom prst="ellipse">
            <a:avLst/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ba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9831" y="5148072"/>
            <a:ext cx="402336" cy="40233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58000" y="5760720"/>
            <a:ext cx="22860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Arial Narrow"/>
              </a:rPr>
              <a:t>Peer banks</a:t>
            </a:r>
          </a:p>
          <a:p>
            <a:pPr algn="ctr"/>
            <a:r>
              <a:rPr sz="1200" b="0" i="0">
                <a:solidFill>
                  <a:srgbClr val="667085"/>
                </a:solidFill>
                <a:latin typeface="Arial Narrow"/>
              </a:rPr>
              <a:t>Stage 2 · via the Pioneers’ Circle</a:t>
            </a:r>
          </a:p>
        </p:txBody>
      </p:sp>
      <p:sp>
        <p:nvSpPr>
          <p:cNvPr id="52" name="Oval 51"/>
          <p:cNvSpPr/>
          <p:nvPr/>
        </p:nvSpPr>
        <p:spPr>
          <a:xfrm>
            <a:off x="5339181" y="4279392"/>
            <a:ext cx="731520" cy="731520"/>
          </a:xfrm>
          <a:prstGeom prst="ellipse">
            <a:avLst/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choo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3773" y="4443984"/>
            <a:ext cx="402336" cy="40233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379061" y="5047488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Arial Narrow"/>
              </a:rPr>
              <a:t>Schools and universities</a:t>
            </a:r>
          </a:p>
          <a:p>
            <a:pPr algn="ctr"/>
            <a:r>
              <a:rPr sz="1200" b="0" i="0">
                <a:solidFill>
                  <a:srgbClr val="667085"/>
                </a:solidFill>
                <a:latin typeface="Arial Narrow"/>
              </a:rPr>
              <a:t>Stage 3 · sponsoring student subscriptions, with work experience links later</a:t>
            </a:r>
          </a:p>
        </p:txBody>
      </p:sp>
      <p:sp>
        <p:nvSpPr>
          <p:cNvPr id="55" name="Oval 54"/>
          <p:cNvSpPr/>
          <p:nvPr/>
        </p:nvSpPr>
        <p:spPr>
          <a:xfrm>
            <a:off x="5339181" y="2377440"/>
            <a:ext cx="731520" cy="731520"/>
          </a:xfrm>
          <a:prstGeom prst="ellipse">
            <a:avLst/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mento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03773" y="2542032"/>
            <a:ext cx="402336" cy="40233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379061" y="3127248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Arial Narrow"/>
              </a:rPr>
              <a:t>Barclays mentors</a:t>
            </a:r>
          </a:p>
          <a:p>
            <a:pPr algn="ctr"/>
            <a:r>
              <a:rPr sz="1200" b="0" i="0">
                <a:solidFill>
                  <a:srgbClr val="667085"/>
                </a:solidFill>
                <a:latin typeface="Arial Narrow"/>
              </a:rPr>
              <a:t>Stage 3</a:t>
            </a:r>
          </a:p>
          <a:p>
            <a:pPr algn="ctr"/>
            <a:r>
              <a:rPr sz="1200" b="0" i="0">
                <a:solidFill>
                  <a:srgbClr val="667085"/>
                </a:solidFill>
                <a:latin typeface="Arial Narrow"/>
              </a:rPr>
              <a:t>A. Building Kewordal lists</a:t>
            </a:r>
          </a:p>
          <a:p>
            <a:pPr algn="ctr"/>
            <a:r>
              <a:rPr sz="1200" b="0" i="0">
                <a:solidFill>
                  <a:srgbClr val="667085"/>
                </a:solidFill>
                <a:latin typeface="Arial Narrow"/>
              </a:rPr>
              <a:t>B. Conversational</a:t>
            </a:r>
          </a:p>
          <a:p>
            <a:pPr algn="ctr"/>
            <a:r>
              <a:rPr sz="1200" b="0" i="0">
                <a:solidFill>
                  <a:srgbClr val="667085"/>
                </a:solidFill>
                <a:latin typeface="Arial Narrow"/>
              </a:rPr>
              <a:t>C. Full engagement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474720"/>
            <a:ext cx="1280160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1" i="0">
                <a:solidFill>
                  <a:srgbClr val="00AAF5"/>
                </a:solidFill>
                <a:latin typeface="Arial Narrow"/>
              </a:rPr>
              <a:t>amplified by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074920"/>
            <a:ext cx="3886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2222"/>
                </a:solidFill>
                <a:latin typeface="Arial Narrow"/>
              </a:rPr>
              <a:t>How learners will grow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67085"/>
                </a:solidFill>
                <a:latin typeface="Arial Narrow"/>
              </a:rPr>
              <a:t>Social education influencers  ·  school and university pilots  ·  our mobile app  ·  Partnership Leads  ·  sponsors’ own campaigns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Three learners, one network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1757020"/>
            <a:ext cx="600761" cy="6007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Josh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828800" y="2121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A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Personalisation. Collaboration. AI.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724912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Builds his own keyword lists from what he is learning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Learns from friends and challenges them on the leaderboard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Asks KAIL, Kewordal's AI learning assistant, to explain whatever he is stuck 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Engages with mentors and teachers as part of a social learning community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617720" y="1645920"/>
            <a:ext cx="822960" cy="822960"/>
          </a:xfrm>
          <a:prstGeom prst="ellipse">
            <a:avLst/>
          </a:prstGeom>
          <a:solidFill>
            <a:srgbClr val="FFC006"/>
          </a:solidFill>
          <a:ln w="12700">
            <a:solidFill>
              <a:srgbClr val="FFC006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820" y="1757020"/>
            <a:ext cx="600761" cy="6007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Samantha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623560" y="2121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A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Beyond the curriculum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17720" y="2724912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Uses Kewordal for her own personal self-development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City of London lawyer building lists in her own field to help learners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Adds expert knowledge far beyond any syllabus to accelerate the learner's attainment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Can become a mentor and coach, if she chooses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38160" y="141732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0" y="1645920"/>
            <a:ext cx="822960" cy="822960"/>
          </a:xfrm>
          <a:prstGeom prst="ellipse">
            <a:avLst/>
          </a:prstGeom>
          <a:solidFill>
            <a:srgbClr val="8AC247"/>
          </a:solidFill>
          <a:ln w="12700">
            <a:solidFill>
              <a:srgbClr val="8AC247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580" y="1757020"/>
            <a:ext cx="600761" cy="6007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8320" y="16459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José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418320" y="2121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A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Global impact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12480" y="2724912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learner in a Brazilian favela with less access to education resources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Connected to Samantha through a shared list that helps him learn English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Sponsored by Samantha to use Kewordal - also helping his family, who cannot afford to, and inspiring the friends connected to him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544068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548640" y="544068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Helping 10 million Josés. Connecting 1 million Samanthas.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Rounded Rectangle 24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José and Josh are who Barclays sponsors. Samantha could be a Barclays colleague.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learners need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3520440"/>
          </a:xfrm>
          <a:prstGeom prst="roundRect">
            <a:avLst>
              <a:gd name="adj" fmla="val 303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22960" y="1691640"/>
            <a:ext cx="868680" cy="868680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232" y="1808912"/>
            <a:ext cx="634136" cy="634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Fragmented by design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LMS is not social; social networks are not built for learning; general AI is not safeguarded for minors.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20440" cy="3520440"/>
          </a:xfrm>
          <a:prstGeom prst="roundRect">
            <a:avLst>
              <a:gd name="adj" fmla="val 303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617720" y="1691640"/>
            <a:ext cx="868680" cy="868680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992" y="1808912"/>
            <a:ext cx="634136" cy="634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wider support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17720" y="3429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Learners lack social tools to reach wider support, and experts have no scalable way to share knowledge.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520440" cy="3520440"/>
          </a:xfrm>
          <a:prstGeom prst="roundRect">
            <a:avLst>
              <a:gd name="adj" fmla="val 303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412480" y="1691640"/>
            <a:ext cx="868680" cy="868680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752" y="1808912"/>
            <a:ext cx="634136" cy="634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Missing mentors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412480" y="34290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Millions of learners have little or no access to mentors as positive role models and education influencers.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Barclays' people are the positive role models learners are missing: their knowledge, shared safely and at scale.</a:t>
            </a:r>
          </a:p>
        </p:txBody>
      </p:sp>
      <p:sp>
        <p:nvSpPr>
          <p:cNvPr id="300" name="Rounded Rectangle 21"/>
          <p:cNvSpPr/>
          <p:nvPr/>
        </p:nvSpPr>
        <p:spPr>
          <a:xfrm>
            <a:off x="548640" y="525780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22"/>
          <p:cNvSpPr txBox="1"/>
          <p:nvPr/>
        </p:nvSpPr>
        <p:spPr>
          <a:xfrm>
            <a:off x="685800" y="528523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The need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One place that brings learning, positive role models and safe AI together for millions of learners.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Kewordal, with KAIL built in</a:t>
            </a:r>
            <a:endParaRPr lang="en-US" sz="3400" dirty="0"/>
          </a:p>
        </p:txBody>
      </p:sp>
      <p:sp>
        <p:nvSpPr>
          <p:cNvPr id="13" name="Shape 9"/>
          <p:cNvSpPr/>
          <p:nvPr/>
        </p:nvSpPr>
        <p:spPr>
          <a:xfrm>
            <a:off x="548640" y="5577840"/>
            <a:ext cx="11109960" cy="640080"/>
          </a:xfrm>
          <a:prstGeom prst="roundRect">
            <a:avLst>
              <a:gd name="adj" fmla="val 17143"/>
            </a:avLst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48640" y="5577840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learner Barclays sponsors gets the same safeguarded, age-adaptive experience.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Rounded Rectangle 16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Safeguarding-first by design: safe for the learners Barclays sponsors, and for Barclays' brand.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371600"/>
            <a:ext cx="3566160" cy="3749039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1536192"/>
            <a:ext cx="640080" cy="640080"/>
          </a:xfrm>
          <a:prstGeom prst="ellipse">
            <a:avLst/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7" y="1677009"/>
            <a:ext cx="358444" cy="3584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54480" y="1627632"/>
            <a:ext cx="24231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  <a:latin typeface="Arial Narrow"/>
              </a:rPr>
              <a:t>What is Kewordal?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331720"/>
            <a:ext cx="3154679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0000" indent="-200000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Arial Narrow"/>
              </a:rPr>
              <a:t>A social education and learning network: educating people, and learning from people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Arial Narrow"/>
              </a:rPr>
              <a:t>Build it: turn any topic into a keyword list in seconds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Arial Narrow"/>
              </a:rPr>
              <a:t>Play it: every keyword becomes a question in games, quizzes and challenges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Arial Narrow"/>
              </a:rPr>
              <a:t>Connect with it: follow, challenge friends and climb leaderboards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Arial Narrow"/>
              </a:rPr>
              <a:t>200 subjects, from law to engineering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540" y="1371600"/>
            <a:ext cx="3566160" cy="3749039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49140" y="1536192"/>
            <a:ext cx="640080" cy="64008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957" y="1677009"/>
            <a:ext cx="358444" cy="3584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26379" y="1627632"/>
            <a:ext cx="24231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  <a:latin typeface="Arial Narrow"/>
              </a:rPr>
              <a:t>What KAIL does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9140" y="2331720"/>
            <a:ext cx="3154679" cy="2697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0000" indent="-200000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Arial Narrow"/>
              </a:rPr>
              <a:t>Explains any keyword in clear, age-appropriate language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Arial Narrow"/>
              </a:rPr>
              <a:t>Summarises a list thematically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Arial Narrow"/>
              </a:rPr>
              <a:t>Suggests additional relevant keywords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Arial Narrow"/>
              </a:rPr>
              <a:t>Shows how two keywords relate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Arial Narrow"/>
              </a:rPr>
              <a:t>Gives real-world context for why a keyword matters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371600"/>
            <a:ext cx="3566160" cy="3749039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21040" y="1536192"/>
            <a:ext cx="640080" cy="64008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857" y="1677009"/>
            <a:ext cx="358444" cy="3584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98280" y="1627632"/>
            <a:ext cx="242316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  <a:latin typeface="Arial Narrow"/>
              </a:rPr>
              <a:t>Built-in safeguards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331720"/>
            <a:ext cx="3154679" cy="2697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00000" indent="-200000">
              <a:spcAft>
                <a:spcPts val="7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Arial Narrow"/>
              </a:rPr>
              <a:t>Scoped to the learner’s list, not open-ended chat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Arial Narrow"/>
              </a:rPr>
              <a:t>Vocabulary adapts to the account’s age band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Arial Narrow"/>
              </a:rPr>
              <a:t>Permanent accuracy notice linking to a public support page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Arial Narrow"/>
              </a:rPr>
              <a:t>Thumbs up/down gives young users a safe way to flag a bad answer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Arial Narrow"/>
              </a:rPr>
              <a:t>No permanent storage of conversations</a:t>
            </a:r>
          </a:p>
          <a:p>
            <a:pPr algn="l" marL="200000" indent="-200000">
              <a:spcAft>
                <a:spcPts val="7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Arial Narrow"/>
              </a:rPr>
              <a:t>No AI training on user data without explicit opt-in</a:t>
            </a:r>
          </a:p>
        </p:txBody>
      </p:sp>
      <p:sp>
        <p:nvSpPr>
          <p:cNvPr id="34" name="TextBox 33">
            <a:hlinkClick r:id="rId7"/>
          </p:cNvPr>
          <p:cNvSpPr txBox="1"/>
          <p:nvPr/>
        </p:nvSpPr>
        <p:spPr>
          <a:xfrm>
            <a:off x="1115568" y="4553712"/>
            <a:ext cx="274320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0" i="0" u="sng">
                <a:solidFill>
                  <a:srgbClr val="00AAF5"/>
                </a:solidFill>
                <a:latin typeface="Arial Narrow"/>
              </a:rPr>
              <a:t>Watch a short demo of Kewordal</a:t>
            </a:r>
          </a:p>
        </p:txBody>
      </p:sp>
      <p:pic>
        <p:nvPicPr>
          <p:cNvPr id="35" name="Picture 34" descr="play_blue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4608576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Barclays' sponsorship looks like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At launch, your brand on every learner you sponsor. Your profile page follows.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371600"/>
            <a:ext cx="74066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1371600"/>
            <a:ext cx="7406640" cy="34747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1481328"/>
            <a:ext cx="118872" cy="118872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2688" y="1481328"/>
            <a:ext cx="118872" cy="118872"/>
          </a:xfrm>
          <a:prstGeom prst="ellipse">
            <a:avLst/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3856" y="1481328"/>
            <a:ext cx="118872" cy="118872"/>
          </a:xfrm>
          <a:prstGeom prst="ellipse">
            <a:avLst/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1389888"/>
            <a:ext cx="4572000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67085"/>
                </a:solidFill>
                <a:latin typeface="Arial Narrow"/>
              </a:rPr>
              <a:t>kewordal.com/sponsors/barclays</a:t>
            </a:r>
          </a:p>
        </p:txBody>
      </p:sp>
      <p:pic>
        <p:nvPicPr>
          <p:cNvPr id="30" name="Picture 29" descr="image17.jpeg"/>
          <p:cNvPicPr>
            <a:picLocks noChangeAspect="1"/>
          </p:cNvPicPr>
          <p:nvPr/>
        </p:nvPicPr>
        <p:blipFill>
          <a:blip r:embed="rId5"/>
          <a:srcRect t="27580" b="27580"/>
          <a:stretch>
            <a:fillRect/>
          </a:stretch>
        </p:blipFill>
        <p:spPr>
          <a:xfrm>
            <a:off x="566928" y="1719072"/>
            <a:ext cx="7370064" cy="1325880"/>
          </a:xfrm>
          <a:prstGeom prst="rect">
            <a:avLst/>
          </a:prstGeom>
        </p:spPr>
      </p:pic>
      <p:sp>
        <p:nvSpPr>
          <p:cNvPr id="31" name="Barclays logo"/>
          <p:cNvSpPr/>
          <p:nvPr/>
        </p:nvSpPr>
        <p:spPr>
          <a:xfrm>
            <a:off x="868680" y="2697480"/>
            <a:ext cx="17373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_x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48" y="2927493"/>
            <a:ext cx="1550822" cy="31721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788920" y="310896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 Narrow"/>
              </a:rPr>
              <a:t>Barclays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34640" y="3584448"/>
            <a:ext cx="2834640" cy="329184"/>
          </a:xfrm>
          <a:prstGeom prst="roundRect">
            <a:avLst>
              <a:gd name="adj" fmla="val 8000"/>
            </a:avLst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3584448"/>
            <a:ext cx="2834640" cy="3291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 Narrow"/>
              </a:rPr>
              <a:t>Pioneer Sponsor No. 1 · Banking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3108960"/>
            <a:ext cx="21488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2400" b="1" i="0">
                <a:solidFill>
                  <a:srgbClr val="00AAF5"/>
                </a:solidFill>
                <a:latin typeface="Arial Narrow"/>
              </a:rPr>
              <a:t>1,200</a:t>
            </a:r>
          </a:p>
          <a:p>
            <a:pPr algn="r"/>
            <a:r>
              <a:rPr sz="1200" b="0" i="0">
                <a:solidFill>
                  <a:srgbClr val="667085"/>
                </a:solidFill>
                <a:latin typeface="Arial Narrow"/>
              </a:rPr>
              <a:t>learners sponsored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11480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187952"/>
            <a:ext cx="1965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1" i="0">
                <a:solidFill>
                  <a:srgbClr val="222222"/>
                </a:solidFill>
                <a:latin typeface="Arial Narrow"/>
              </a:rPr>
              <a:t>From our CEO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645152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1">
                <a:solidFill>
                  <a:srgbClr val="222222"/>
                </a:solidFill>
                <a:latin typeface="Arial Narrow"/>
              </a:rPr>
              <a:t>Your CEO’s message, in their own words: why Barclays backs learners, and what it means for your people.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596128"/>
            <a:ext cx="2057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Arial Narrow"/>
              </a:rPr>
              <a:t>Written by your CEO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36392" y="411480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73552" y="4187952"/>
            <a:ext cx="1965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1" i="0">
                <a:solidFill>
                  <a:srgbClr val="222222"/>
                </a:solidFill>
                <a:latin typeface="Arial Narrow"/>
              </a:rPr>
              <a:t>Our commitment to social education and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5264" y="4645152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 Narrow"/>
              </a:rPr>
              <a:t>Through Kewordal, we sponsor 1,200 learners in economics, finance and business, and our colleagues share their expertise by building Kewordal lists.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55264" y="5596128"/>
            <a:ext cx="2057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Arial Narrow"/>
              </a:rPr>
              <a:t>Example text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95544" y="4114800"/>
            <a:ext cx="2240280" cy="18288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32704" y="4187952"/>
            <a:ext cx="1965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50" b="1" i="0">
                <a:solidFill>
                  <a:srgbClr val="222222"/>
                </a:solidFill>
                <a:latin typeface="Arial Narrow"/>
              </a:rPr>
              <a:t>Our social impact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14416" y="4645152"/>
            <a:ext cx="2011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 Narrow"/>
              </a:rPr>
              <a:t>We help people build the skills and confidence to manage money, find work and start businesses.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14416" y="5596128"/>
            <a:ext cx="2057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Arial Narrow"/>
              </a:rPr>
              <a:t>Example text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1371600"/>
            <a:ext cx="329184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385048" y="1389888"/>
            <a:ext cx="3255264" cy="868680"/>
          </a:xfrm>
          <a:prstGeom prst="roundRect">
            <a:avLst>
              <a:gd name="adj" fmla="val 15000"/>
            </a:avLst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85048" y="2011680"/>
            <a:ext cx="3255264" cy="246888"/>
          </a:xfrm>
          <a:prstGeom prst="rect">
            <a:avLst/>
          </a:prstGeom>
          <a:solidFill>
            <a:srgbClr val="E3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228832" y="1499616"/>
            <a:ext cx="292608" cy="2926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28832" y="1481328"/>
            <a:ext cx="292608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667085"/>
                </a:solidFill>
                <a:latin typeface="Arial Narrow"/>
              </a:rPr>
              <a:t>⋮</a:t>
            </a:r>
          </a:p>
        </p:txBody>
      </p:sp>
      <p:sp>
        <p:nvSpPr>
          <p:cNvPr id="54" name="Oval 53"/>
          <p:cNvSpPr/>
          <p:nvPr/>
        </p:nvSpPr>
        <p:spPr>
          <a:xfrm>
            <a:off x="9345168" y="1627632"/>
            <a:ext cx="1335024" cy="13350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6EA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face_hann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0888" y="1673352"/>
            <a:ext cx="1243584" cy="124358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458200" y="3017520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900" b="1" i="0">
                <a:solidFill>
                  <a:srgbClr val="222222"/>
                </a:solidFill>
                <a:latin typeface="Arial Narrow"/>
              </a:rPr>
              <a:t>Hannah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55480" y="347472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55480" y="3474720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50" b="0" i="0">
                <a:solidFill>
                  <a:srgbClr val="667085"/>
                </a:solidFill>
                <a:latin typeface="Arial Narrow"/>
              </a:rPr>
              <a:t>Learner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18320" y="3822191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18320" y="3822191"/>
            <a:ext cx="118872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50" b="0" i="0">
                <a:solidFill>
                  <a:srgbClr val="667085"/>
                </a:solidFill>
                <a:latin typeface="Arial Narrow"/>
              </a:rPr>
              <a:t>Economics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86800" y="425196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0" y="4251960"/>
            <a:ext cx="2651760" cy="43891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/>
              </a:rPr>
              <a:t>Connect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595360" y="4892040"/>
            <a:ext cx="28346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458200" y="4919472"/>
            <a:ext cx="310896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50" b="0" i="0">
                <a:solidFill>
                  <a:srgbClr val="667085"/>
                </a:solidFill>
                <a:latin typeface="Arial Narrow"/>
              </a:rPr>
              <a:t>Sponsored by</a:t>
            </a:r>
          </a:p>
        </p:txBody>
      </p:sp>
      <p:sp>
        <p:nvSpPr>
          <p:cNvPr id="65" name="Oval 64">
            <a:hlinkClick r:id="rId8"/>
          </p:cNvPr>
          <p:cNvSpPr/>
          <p:nvPr/>
        </p:nvSpPr>
        <p:spPr>
          <a:xfrm>
            <a:off x="9537192" y="5157216"/>
            <a:ext cx="950976" cy="9509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  <a:effectLst>
            <a:outerShdw blurRad="76200" dist="25400" dir="5400000" algn="t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logo_circle.png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4624" y="5184648"/>
            <a:ext cx="896112" cy="896112"/>
          </a:xfrm>
          <a:prstGeom prst="rect">
            <a:avLst/>
          </a:prstGeom>
        </p:spPr>
      </p:pic>
      <p:sp>
        <p:nvSpPr>
          <p:cNvPr id="67" name="Oval 66"/>
          <p:cNvSpPr/>
          <p:nvPr/>
        </p:nvSpPr>
        <p:spPr>
          <a:xfrm>
            <a:off x="10241280" y="5779008"/>
            <a:ext cx="292608" cy="292608"/>
          </a:xfrm>
          <a:prstGeom prst="ellipse">
            <a:avLst/>
          </a:prstGeom>
          <a:solidFill>
            <a:srgbClr val="00AAF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extl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14432" y="5852160"/>
            <a:ext cx="146304" cy="146304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5806440" y="1783080"/>
            <a:ext cx="2011680" cy="310896"/>
          </a:xfrm>
          <a:prstGeom prst="roundRect">
            <a:avLst>
              <a:gd name="adj" fmla="val 8000"/>
            </a:avLst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06440" y="1783080"/>
            <a:ext cx="2011680" cy="31089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/>
              </a:rPr>
              <a:t>Coming after launch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366760" y="6217920"/>
            <a:ext cx="1463040" cy="237744"/>
          </a:xfrm>
          <a:prstGeom prst="roundRect">
            <a:avLst>
              <a:gd name="adj" fmla="val 8000"/>
            </a:avLst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66760" y="6217920"/>
            <a:ext cx="146304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/>
              </a:rPr>
              <a:t>Live at launch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5520" y="6199632"/>
            <a:ext cx="178308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 i="0">
                <a:solidFill>
                  <a:srgbClr val="667085"/>
                </a:solidFill>
                <a:latin typeface="Arial Narrow"/>
              </a:rPr>
              <a:t>Illustrative mock-up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Barclays gains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Be among the first to back learners, with Barclays' brand amplified by our social education influencers.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46304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59" y="1783080"/>
            <a:ext cx="914400" cy="91440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7" y="1984248"/>
            <a:ext cx="512064" cy="5120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2971800"/>
            <a:ext cx="2148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 Narrow"/>
              </a:rPr>
              <a:t>Influence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566160"/>
            <a:ext cx="2148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 Narrow"/>
              </a:rPr>
              <a:t>Seen as a progressive business invested in global education and social impact, by learners, institutions and the banking sector.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146304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57600" y="1783080"/>
            <a:ext cx="914400" cy="914400"/>
          </a:xfrm>
          <a:prstGeom prst="ellipse">
            <a:avLst/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reput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1984248"/>
            <a:ext cx="512064" cy="5120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11880" y="2971800"/>
            <a:ext cx="2148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 Narrow"/>
              </a:rPr>
              <a:t>Reputation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566160"/>
            <a:ext cx="2148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 Narrow"/>
              </a:rPr>
              <a:t>Your brand linked to better educational and social outcomes, shown publicly on your profile page.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146304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92240" y="1783080"/>
            <a:ext cx="914400" cy="914400"/>
          </a:xfrm>
          <a:prstGeom prst="ellipse">
            <a:avLst/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7" y="1984248"/>
            <a:ext cx="512064" cy="51206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46520" y="2971800"/>
            <a:ext cx="2148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 Narrow"/>
              </a:rPr>
              <a:t>Opportunities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566160"/>
            <a:ext cx="2148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 Narrow"/>
              </a:rPr>
              <a:t>Your workforce shares its expertise by building Kewordal lists, and later through mentoring and work experience: a pathway from learning to work.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1463040"/>
            <a:ext cx="2606040" cy="46634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26880" y="1783080"/>
            <a:ext cx="914400" cy="91440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048" y="1984248"/>
            <a:ext cx="512064" cy="51206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281160" y="2971800"/>
            <a:ext cx="2148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 Narrow"/>
              </a:rPr>
              <a:t>Networks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566160"/>
            <a:ext cx="214884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Arial Narrow"/>
              </a:rPr>
              <a:t>Learners, educators and sector peers follow Barclays on Kewordal, building a lasting audience for your brand.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Pioneer Sponsors, Banking: three places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600200" y="1554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Three per sector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600200" y="1956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AA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permanent title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first three organisations in banking to sponsor at Super Partnership level, from £25,000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Major Sponsors, from £50,000, feature on a dedicated Major Sponsors page, with clickable links to their profile page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Each keeps its number permanently: Pioneer Sponsor No. 1, 2 or 3, Banking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137160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0" y="1554480"/>
            <a:ext cx="685800" cy="685800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394960" y="1554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you receive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394960" y="1956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AA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As Pioneer Sponsor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0" y="25146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SzPct val="100000"/>
              <a:buNone/>
            </a:pPr>
            <a:r>
              <a:rPr lang="en-US" sz="135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1.  First access to your sponsor profile page</a:t>
            </a:r>
            <a:endParaRPr lang="en-US" sz="1350" dirty="0"/>
          </a:p>
          <a:p>
            <a:pPr marL="0" indent="0">
              <a:spcAft>
                <a:spcPts val="1000"/>
              </a:spcAft>
              <a:buSzPct val="100000"/>
              <a:buNone/>
            </a:pPr>
            <a:r>
              <a:rPr lang="en-US" sz="135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2.  Top placement for banking on the public sponsor dashboard</a:t>
            </a:r>
            <a:endParaRPr lang="en-US" sz="1350" dirty="0"/>
          </a:p>
          <a:p>
            <a:pPr marL="0" indent="0">
              <a:spcAft>
                <a:spcPts val="1000"/>
              </a:spcAft>
              <a:buSzPct val="100000"/>
              <a:buNone/>
            </a:pPr>
            <a:r>
              <a:rPr lang="en-US" sz="135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3.  An invitation to the Pioneers’ Circle, taking turns to lead your sector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38160" y="1371600"/>
            <a:ext cx="3520440" cy="3429000"/>
          </a:xfrm>
          <a:prstGeom prst="roundRect">
            <a:avLst>
              <a:gd name="adj" fmla="val 2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66760" y="1554480"/>
            <a:ext cx="685800" cy="685800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189720" y="1554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Numbered by sector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9189720" y="1956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AA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First come, first numbered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366760" y="25146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sponsor is numbered in order of joining, sector by sector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Barclays could be Banking No. 1; the next two to join, No. 2 and No. 3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Your number appears on your profile page and the sector dashboard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50292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731520" y="5074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per sector</a:t>
            </a:r>
            <a:endParaRPr lang="en-US" sz="3200" dirty="0"/>
          </a:p>
        </p:txBody>
      </p:sp>
      <p:sp>
        <p:nvSpPr>
          <p:cNvPr id="23" name="Text 18"/>
          <p:cNvSpPr/>
          <p:nvPr/>
        </p:nvSpPr>
        <p:spPr>
          <a:xfrm>
            <a:off x="731520" y="5715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three in banking; 99 in 33 sectors and growing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343400" y="50292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8AC247"/>
          </a:solidFill>
          <a:ln w="12700">
            <a:solidFill>
              <a:srgbClr val="8AC247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4526280" y="5074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No. 1–3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4526280" y="5715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numbered permanently, in order of joining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138160" y="50292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FC006"/>
          </a:solidFill>
          <a:ln w="12700">
            <a:solidFill>
              <a:srgbClr val="FFC006"/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8321040" y="50749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£50k+</a:t>
            </a:r>
            <a:endParaRPr lang="en-US" sz="3200" dirty="0"/>
          </a:p>
        </p:txBody>
      </p:sp>
      <p:sp>
        <p:nvSpPr>
          <p:cNvPr id="29" name="Text 24"/>
          <p:cNvSpPr/>
          <p:nvPr/>
        </p:nvSpPr>
        <p:spPr>
          <a:xfrm>
            <a:off x="8321040" y="5715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Major Sponsors, featured on a dedicated page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</a:t>
            </a:r>
            <a:endParaRPr lang="en-US" sz="1000" dirty="0"/>
          </a:p>
        </p:txBody>
      </p:sp>
      <p:pic>
        <p:nvPicPr>
          <p:cNvPr id="32" name="Picture 31" descr="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1664208"/>
            <a:ext cx="466344" cy="466344"/>
          </a:xfrm>
          <a:prstGeom prst="rect">
            <a:avLst/>
          </a:prstGeom>
        </p:spPr>
      </p:pic>
      <p:pic>
        <p:nvPicPr>
          <p:cNvPr id="33" name="Picture 32" descr="gif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1664208"/>
            <a:ext cx="466344" cy="466344"/>
          </a:xfrm>
          <a:prstGeom prst="rect">
            <a:avLst/>
          </a:prstGeom>
        </p:spPr>
      </p:pic>
      <p:pic>
        <p:nvPicPr>
          <p:cNvPr id="34" name="Picture 33" descr="l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1664208"/>
            <a:ext cx="466344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Pioneers’ Circle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 rot="10800000">
            <a:off x="2788920" y="3657600"/>
            <a:ext cx="457200" cy="320040"/>
          </a:xfrm>
          <a:prstGeom prst="triangle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2103120"/>
          </a:xfrm>
          <a:prstGeom prst="roundRect">
            <a:avLst>
              <a:gd name="adj" fmla="val 608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55448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00AA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Shape how banking engages with social education and learning, globally, and bring your peers with you.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256" y="4133088"/>
            <a:ext cx="1371600" cy="14271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417320"/>
            <a:ext cx="5897880" cy="1115568"/>
          </a:xfrm>
          <a:prstGeom prst="roundRect">
            <a:avLst>
              <a:gd name="adj" fmla="val 819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0" y="1673352"/>
            <a:ext cx="594360" cy="594360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6812280" y="1527048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By invitation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812280" y="1856232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For pioneering sponsors, starting with each sector’s three Pioneer Sponsors, who take turns to lead their sector. Our partner-level relationship.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760720" y="2679192"/>
            <a:ext cx="5897880" cy="1115568"/>
          </a:xfrm>
          <a:prstGeom prst="roundRect">
            <a:avLst>
              <a:gd name="adj" fmla="val 819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943600" y="2935224"/>
            <a:ext cx="594360" cy="594360"/>
          </a:xfrm>
          <a:prstGeom prst="ellipse">
            <a:avLst/>
          </a:prstGeom>
          <a:solidFill>
            <a:srgbClr val="8AC247"/>
          </a:solidFill>
          <a:ln w="12700">
            <a:solidFill>
              <a:srgbClr val="8AC247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812280" y="2788920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Shape your sector’s engagement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812280" y="3118104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Members help to shape how Kewordal rolls out in banking, as company coordinators did in the mentoring scheme Michael ran (page 12). </a:t>
            </a:r>
            <a:endParaRPr lang="en-US" sz="1100" dirty="0"/>
            <a:r>
              <a:rPr lang="en-US" sz="1100" dirty="0" u="sng">
                <a:solidFill>
                  <a:srgbClr val="00AA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  <a:hlinkClick r:id="rId12"/>
              </a:rPr>
              <a:t>Michael's background</a:t>
            </a:r>
          </a:p>
        </p:txBody>
      </p:sp>
      <p:sp>
        <p:nvSpPr>
          <p:cNvPr id="17" name="Shape 12"/>
          <p:cNvSpPr/>
          <p:nvPr/>
        </p:nvSpPr>
        <p:spPr>
          <a:xfrm>
            <a:off x="5760720" y="3941064"/>
            <a:ext cx="5897880" cy="1115568"/>
          </a:xfrm>
          <a:prstGeom prst="roundRect">
            <a:avLst>
              <a:gd name="adj" fmla="val 819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5943600" y="4197096"/>
            <a:ext cx="594360" cy="594360"/>
          </a:xfrm>
          <a:prstGeom prst="ellipse">
            <a:avLst/>
          </a:prstGeom>
          <a:solidFill>
            <a:srgbClr val="FFC006"/>
          </a:solidFill>
          <a:ln w="12700">
            <a:solidFill>
              <a:srgbClr val="FFC006"/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/>
          <p:nvPr/>
        </p:nvSpPr>
        <p:spPr>
          <a:xfrm>
            <a:off x="6812280" y="4050792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Reach your peers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812280" y="4379976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Members lead outreach to peer banks. Kewordal celebrates the sector as a whole, “Banking, led by its Pioneer Sponsors”, so the pioneers and the whole sector share the credit, and sectors can see how they compare.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760720" y="5202936"/>
            <a:ext cx="5897880" cy="1115568"/>
          </a:xfrm>
          <a:prstGeom prst="roundRect">
            <a:avLst>
              <a:gd name="adj" fmla="val 819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  <a:effectLst>
            <a:outerShdw sx="100000" sy="100000" kx="0" ky="0" algn="bl" rotWithShape="0" blurRad="101600" dist="25400" dir="5400000">
              <a:srgbClr val="888888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5943600" y="5458968"/>
            <a:ext cx="594360" cy="594360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sp>
        <p:nvSpPr>
          <p:cNvPr id="25" name="Text 18"/>
          <p:cNvSpPr/>
          <p:nvPr/>
        </p:nvSpPr>
        <p:spPr>
          <a:xfrm>
            <a:off x="6812280" y="5312664"/>
            <a:ext cx="4709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forerunner of the Patrons’ Circle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6812280" y="5641848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When the planned Kewordal-linked charity is established, Pioneers' Circle members will be among those invited to become founding members of its Patrons' Circle.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11</a:t>
            </a:r>
            <a:endParaRPr lang="en-US" sz="1000" dirty="0"/>
          </a:p>
        </p:txBody>
      </p:sp>
      <p:pic>
        <p:nvPicPr>
          <p:cNvPr id="29" name="Picture 28" descr="inv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1783080"/>
            <a:ext cx="374904" cy="374904"/>
          </a:xfrm>
          <a:prstGeom prst="rect">
            <a:avLst/>
          </a:prstGeom>
        </p:spPr>
      </p:pic>
      <p:pic>
        <p:nvPicPr>
          <p:cNvPr id="30" name="Picture 29" descr="compa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3328" y="3044952"/>
            <a:ext cx="374904" cy="374904"/>
          </a:xfrm>
          <a:prstGeom prst="rect">
            <a:avLst/>
          </a:prstGeom>
        </p:spPr>
      </p:pic>
      <p:pic>
        <p:nvPicPr>
          <p:cNvPr id="31" name="Picture 30" descr="rea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3328" y="4306824"/>
            <a:ext cx="374904" cy="374904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3328" y="5568696"/>
            <a:ext cx="374904" cy="3749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8640" y="5596128"/>
            <a:ext cx="49377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50" b="1" i="0">
                <a:solidFill>
                  <a:srgbClr val="8AC247"/>
                </a:solidFill>
                <a:latin typeface="Arial Narrow"/>
              </a:rPr>
              <a:t>An inclusive body for business.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Every member, large or small, has a voice in how their sector shapes education and social impact, globally.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Barclays could fund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12</a:t>
            </a:r>
            <a:endParaRPr lang="en-US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 Narrow"/>
              </a:rPr>
              <a:t>Standard</a:t>
            </a:r>
            <a:r>
              <a:rPr sz="1300" b="0" i="0">
                <a:solidFill>
                  <a:srgbClr val="667085"/>
                </a:solidFill>
                <a:latin typeface="Arial Narrow"/>
              </a:rPr>
              <a:t>   learners sponsored for one year, per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 Narrow"/>
              </a:rPr>
              <a:t>Super Partnership</a:t>
            </a:r>
            <a:r>
              <a:rPr sz="1300" b="0" i="0">
                <a:solidFill>
                  <a:srgbClr val="667085"/>
                </a:solidFill>
                <a:latin typeface="Arial Narrow"/>
              </a:rPr>
              <a:t>   for large-scale, early sponsorship, per 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538728"/>
            <a:ext cx="2834640" cy="329184"/>
          </a:xfrm>
          <a:prstGeom prst="roundRect">
            <a:avLst>
              <a:gd name="adj" fmla="val 8000"/>
            </a:avLst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3538728"/>
            <a:ext cx="2834640" cy="3291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222222"/>
                </a:solidFill>
                <a:latin typeface="Arial Narrow"/>
              </a:rPr>
              <a:t>Pioneer Sponsor places start here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1783080"/>
            <a:ext cx="2571750" cy="14630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920240"/>
            <a:ext cx="211455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 i="0">
                <a:solidFill>
                  <a:srgbClr val="00AAF5"/>
                </a:solidFill>
                <a:latin typeface="Arial Narrow"/>
              </a:rPr>
              <a:t>£2,995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606040"/>
            <a:ext cx="211455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rial Narrow"/>
              </a:rPr>
              <a:t>24 learners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94710" y="1783080"/>
            <a:ext cx="2571750" cy="14630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3310" y="1920240"/>
            <a:ext cx="211455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 i="0">
                <a:solidFill>
                  <a:srgbClr val="00AAF5"/>
                </a:solidFill>
                <a:latin typeface="Arial Narrow"/>
              </a:rPr>
              <a:t>£3,995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3310" y="2606040"/>
            <a:ext cx="211455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rial Narrow"/>
              </a:rPr>
              <a:t>36 learners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79" y="1783080"/>
            <a:ext cx="2571750" cy="14630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9379" y="1920240"/>
            <a:ext cx="211455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 i="0">
                <a:solidFill>
                  <a:srgbClr val="00AAF5"/>
                </a:solidFill>
                <a:latin typeface="Arial Narrow"/>
              </a:rPr>
              <a:t>£4,995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9379" y="2606040"/>
            <a:ext cx="211455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rial Narrow"/>
              </a:rPr>
              <a:t>48 learners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6849" y="1783080"/>
            <a:ext cx="2571750" cy="146304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15449" y="1920240"/>
            <a:ext cx="211455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400" b="1" i="0">
                <a:solidFill>
                  <a:srgbClr val="00AAF5"/>
                </a:solidFill>
                <a:latin typeface="Arial Narrow"/>
              </a:rPr>
              <a:t>£10,000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5449" y="2606040"/>
            <a:ext cx="211455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Arial Narrow"/>
              </a:rPr>
              <a:t>125 learners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977639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59" y="4343400"/>
            <a:ext cx="29718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4000" b="1" i="0">
                <a:solidFill>
                  <a:srgbClr val="222222"/>
                </a:solidFill>
                <a:latin typeface="Arial Narrow"/>
              </a:rPr>
              <a:t>£25,000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" y="516636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Arial Narrow"/>
              </a:rPr>
              <a:t>300 learners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3977639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46520" y="41148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114800"/>
            <a:ext cx="128016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50" b="1" i="0">
                <a:solidFill>
                  <a:srgbClr val="222222"/>
                </a:solidFill>
                <a:latin typeface="Arial Narrow"/>
              </a:rPr>
              <a:t>Major Sponsor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343400"/>
            <a:ext cx="29718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4000" b="1" i="0">
                <a:solidFill>
                  <a:srgbClr val="222222"/>
                </a:solidFill>
                <a:latin typeface="Arial Narrow"/>
              </a:rPr>
              <a:t>£50,000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516636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Arial Narrow"/>
              </a:rPr>
              <a:t>600 learners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3977639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41280" y="411480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0" y="4114800"/>
            <a:ext cx="128016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50" b="1" i="0">
                <a:solidFill>
                  <a:srgbClr val="222222"/>
                </a:solidFill>
                <a:latin typeface="Arial Narrow"/>
              </a:rPr>
              <a:t>Major Sponsor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343400"/>
            <a:ext cx="297180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4000" b="1" i="0">
                <a:solidFill>
                  <a:srgbClr val="222222"/>
                </a:solidFill>
                <a:latin typeface="Arial Narrow"/>
              </a:rPr>
              <a:t>£100,000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166360"/>
            <a:ext cx="29718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Arial Narrow"/>
              </a:rPr>
              <a:t>1,200 learners</a:t>
            </a:r>
          </a:p>
        </p:txBody>
      </p:sp>
      <p:sp>
        <p:nvSpPr>
          <p:cNvPr id="51" name="Rounded Rectangle 21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22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With every package, Barclays' brand appears on each sponsored learner’s profile.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Built on proven experience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13</a:t>
            </a:r>
            <a:endParaRPr lang="en-US" sz="1000" dirty="0"/>
          </a:p>
        </p:txBody>
      </p:sp>
      <p:sp>
        <p:nvSpPr>
          <p:cNvPr id="15" name="Rounded Rectangle 14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Kewordal’s two foundations were proven in practice long before the platform was built.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0"/>
            <a:ext cx="1110996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00AAF5"/>
                </a:solidFill>
                <a:latin typeface="Arial Narrow"/>
              </a:rPr>
              <a:t>Social good isn’t a feature we added. It’s the reason Kewordal exists.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011680"/>
            <a:ext cx="3337560" cy="37033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148840"/>
            <a:ext cx="246888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 Narrow"/>
              </a:rPr>
              <a:t>Proven: keyword learning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788920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00AAF5"/>
                </a:solidFill>
                <a:latin typeface="Arial Narrow"/>
              </a:rPr>
              <a:t>Where Kewordal lists began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2971800" cy="2468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Arial Narrow"/>
              </a:rPr>
              <a:t>Flashcards, spider diagrams and similar tools are long-established ways to learn. Keyword lists came from Michael’s own experience.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222222"/>
                </a:solidFill>
                <a:latin typeface="Arial Narrow"/>
              </a:rPr>
              <a:t>He first used them as a student, having left school with below-average qualifications. They helped him simplify information, remember it, and close the perceived attainment gap on students he felt were brighter. Kewordal is built on that method.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2011680"/>
            <a:ext cx="4434840" cy="37033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51960" y="2194560"/>
            <a:ext cx="457200" cy="457200"/>
          </a:xfrm>
          <a:prstGeom prst="ellipse">
            <a:avLst/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2194560"/>
            <a:ext cx="4572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148840"/>
            <a:ext cx="3566159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 Narrow"/>
              </a:rPr>
              <a:t>Proven: companies want to engage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487168"/>
            <a:ext cx="3566159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>
                <a:solidFill>
                  <a:srgbClr val="8AC247"/>
                </a:solidFill>
                <a:latin typeface="Arial Narrow"/>
              </a:rPr>
              <a:t>Modelling a future of corporate engagement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2880360"/>
            <a:ext cx="4069079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Arial Narrow"/>
              </a:rPr>
              <a:t>Corporate social responsibility shows how much companies want to contribute to education.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Arial Narrow"/>
              </a:rPr>
              <a:t>Michael previously ran one of the country’s largest mentoring schemes, in Tower Hamlets: professionals from more than 60 organisations, including the Bank of England, Goldman Sachs, Deloitte &amp; Touche and Unilever, mentoring students from less privileged backgrounds.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72000"/>
            <a:ext cx="97154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00AAF5"/>
                </a:solidFill>
                <a:latin typeface="Arial Narrow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983480"/>
            <a:ext cx="971549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 Narrow"/>
              </a:rPr>
              <a:t>schools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9230" y="4572000"/>
            <a:ext cx="97154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8AC247"/>
                </a:solidFill>
                <a:latin typeface="Arial Narrow"/>
              </a:rPr>
              <a:t>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9230" y="4983480"/>
            <a:ext cx="971549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 Narrow"/>
              </a:rPr>
              <a:t>coordinators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0" y="4572000"/>
            <a:ext cx="97154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00AAF5"/>
                </a:solidFill>
                <a:latin typeface="Arial Narrow"/>
              </a:rPr>
              <a:t>1,000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4983480"/>
            <a:ext cx="971549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 Narrow"/>
              </a:rPr>
              <a:t>students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3770" y="4572000"/>
            <a:ext cx="97154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200" b="1">
                <a:solidFill>
                  <a:srgbClr val="8AC247"/>
                </a:solidFill>
                <a:latin typeface="Arial Narrow"/>
              </a:rPr>
              <a:t>300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03770" y="4983480"/>
            <a:ext cx="971549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667085"/>
                </a:solidFill>
                <a:latin typeface="Arial Narrow"/>
              </a:rPr>
              <a:t>mentors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5394960"/>
            <a:ext cx="4069079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u="sng">
                <a:solidFill>
                  <a:srgbClr val="00AAF5"/>
                </a:solidFill>
                <a:latin typeface="Arial Narrow"/>
                <a:hlinkClick r:id="rId5"/>
              </a:rPr>
              <a:t>See all the organisations whose professionals took part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2011680"/>
            <a:ext cx="2971800" cy="37033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0" y="2148840"/>
            <a:ext cx="2103120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Arial Narrow"/>
              </a:rPr>
              <a:t>Led by that experience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2788920"/>
            <a:ext cx="2606040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Arial Narrow"/>
              </a:rPr>
              <a:t>Michael Watson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667085"/>
                </a:solidFill>
                <a:latin typeface="Arial Narrow"/>
              </a:rPr>
              <a:t>Founder &amp; CEO, Kewordal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222222"/>
                </a:solidFill>
                <a:latin typeface="Arial Narrow"/>
              </a:rPr>
              <a:t>His former roles include education recruitment director; external adviser to the Social Exclusion Unit, Cabinet Office; PwC (education consultant); leading two mentoring programmes; and vice chair of governors at a primary and a secondary school. He holds a PhD in Education.</a:t>
            </a:r>
          </a:p>
          <a:p>
            <a:pPr>
              <a:spcBef>
                <a:spcPts val="500"/>
              </a:spcBef>
            </a:pPr>
            <a:r>
              <a:rPr sz="1200" b="0" u="sng">
                <a:solidFill>
                  <a:srgbClr val="00AAF5"/>
                </a:solidFill>
                <a:latin typeface="Arial Narrow"/>
                <a:hlinkClick r:id="rId5"/>
              </a:rPr>
              <a:t>Michael’s background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06440"/>
            <a:ext cx="1110996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00AAF5"/>
                </a:solidFill>
                <a:latin typeface="Arial Narrow"/>
              </a:rPr>
              <a:t>Kewordal now makes this possible for businesses globally, with the first sponsors in each sector leading the way.</a:t>
            </a:r>
          </a:p>
        </p:txBody>
      </p:sp>
      <p:pic>
        <p:nvPicPr>
          <p:cNvPr id="45" name="Picture 44" descr="michael_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6528" y="21031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Built by people who believe in it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14</a:t>
            </a:r>
            <a:endParaRPr lang="en-US" sz="1000" dirty="0"/>
          </a:p>
        </p:txBody>
      </p:sp>
      <p:sp>
        <p:nvSpPr>
          <p:cNvPr id="15" name="Rounded Rectangle 14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The commitment that built Kewordal goes into every learner Barclays sponsors.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280160"/>
            <a:ext cx="11109960" cy="548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00AAF5"/>
                </a:solidFill>
                <a:latin typeface="Arial Narrow"/>
              </a:rPr>
              <a:t>A Tech for Good team, from the very start.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011680"/>
            <a:ext cx="4023360" cy="370332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194560"/>
            <a:ext cx="361188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222222"/>
                </a:solidFill>
                <a:latin typeface="Arial Narrow"/>
              </a:rPr>
              <a:t>Our story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 Narrow"/>
              </a:rPr>
              <a:t>Kewordal’s core team began as volunteers.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 Narrow"/>
              </a:rPr>
              <a:t>Since September 2025 they have built the platform together, each giving on average 12 months of their time, often alongside studies and jobs.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Arial Narrow"/>
              </a:rPr>
              <a:t>Engineering, design, product, content and marketing: a team that chose to build something for good.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011680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219456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1">
                <a:solidFill>
                  <a:srgbClr val="222222"/>
                </a:solidFill>
                <a:latin typeface="Arial Narrow"/>
              </a:rPr>
              <a:t>“[Quote to come: why I joined Kewordal]”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667085"/>
                </a:solidFill>
                <a:latin typeface="Arial Narrow"/>
              </a:rPr>
              <a:t>[First name], [role]  ·  [months] months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3904487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4087368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1">
                <a:solidFill>
                  <a:srgbClr val="222222"/>
                </a:solidFill>
                <a:latin typeface="Arial Narrow"/>
              </a:rPr>
              <a:t>“[Quote to come: why I joined Kewordal]”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667085"/>
                </a:solidFill>
                <a:latin typeface="Arial Narrow"/>
              </a:rPr>
              <a:t>[First name], [role]  ·  [months] months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011680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194560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1">
                <a:solidFill>
                  <a:srgbClr val="222222"/>
                </a:solidFill>
                <a:latin typeface="Arial Narrow"/>
              </a:rPr>
              <a:t>“[Quote to come: why I joined Kewordal]”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667085"/>
                </a:solidFill>
                <a:latin typeface="Arial Narrow"/>
              </a:rPr>
              <a:t>[First name], [role]  ·  [months] months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904487"/>
            <a:ext cx="3383280" cy="1783080"/>
          </a:xfrm>
          <a:prstGeom prst="roundRect">
            <a:avLst>
              <a:gd name="adj" fmla="val 6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4087368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 i="1">
                <a:solidFill>
                  <a:srgbClr val="222222"/>
                </a:solidFill>
                <a:latin typeface="Arial Narrow"/>
              </a:rPr>
              <a:t>“[Quote to come: why I joined Kewordal]”</a:t>
            </a:r>
          </a:p>
          <a:p>
            <a:pPr algn="l">
              <a:spcAft>
                <a:spcPts val="1000"/>
              </a:spcAft>
            </a:pPr>
            <a:r>
              <a:rPr sz="1150" b="0" i="0">
                <a:solidFill>
                  <a:srgbClr val="667085"/>
                </a:solidFill>
                <a:latin typeface="Arial Narrow"/>
              </a:rPr>
              <a:t>[First name], [role]  ·  [months]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1109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0AAF5"/>
                </a:solidFill>
                <a:latin typeface="Arial Narrow"/>
              </a:rPr>
              <a:t>If a team will give a year of their lives to build Kewordal, imagine what millions of learners and mentors will do with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How we celebrate Barclays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15</a:t>
            </a:r>
            <a:endParaRPr lang="en-US" sz="1000" dirty="0"/>
          </a:p>
        </p:txBody>
      </p:sp>
      <p:sp>
        <p:nvSpPr>
          <p:cNvPr id="100" name="Rounded Rectangle 21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22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Every post puts Barclays in front of learners, parents, educators, businesses and policymakers.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48640" y="1371600"/>
            <a:ext cx="5440680" cy="4892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s100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7652" y="1554480"/>
            <a:ext cx="2962656" cy="370332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777240" y="5349240"/>
            <a:ext cx="498348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00AAF5"/>
                </a:solidFill>
                <a:latin typeface="Arial Narrow"/>
              </a:rPr>
              <a:t>Sponsored 1000</a:t>
            </a:r>
          </a:p>
          <a:p>
            <a:pPr algn="ctr"/>
            <a:r>
              <a:rPr sz="1300" b="0">
                <a:solidFill>
                  <a:srgbClr val="222222"/>
                </a:solidFill>
                <a:latin typeface="Arial Narrow"/>
              </a:rPr>
              <a:t>When Barclays reaches 1,000 sponsored learners, we celebrate it across Kewordal and social media platforms.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217920" y="1371600"/>
            <a:ext cx="5440680" cy="4892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spo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79" y="1554480"/>
            <a:ext cx="4251960" cy="425196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7875269" y="4690300"/>
            <a:ext cx="2125980" cy="77952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 Narrow"/>
              </a:rPr>
              <a:t>The learners Barclays sponsors, celebrated in your brand colours on LinkedIn and other social media platforms.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17920" y="5897880"/>
            <a:ext cx="5440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0">
                <a:solidFill>
                  <a:srgbClr val="667085"/>
                </a:solidFill>
                <a:latin typeface="Arial Narrow"/>
              </a:rPr>
              <a:t>Illustrative designs by the Kewordal creative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What’s coming for Barclays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Rounded Rectangle 21"/>
          <p:cNvSpPr/>
          <p:nvPr/>
        </p:nvSpPr>
        <p:spPr>
          <a:xfrm>
            <a:off x="548640" y="1417320"/>
            <a:ext cx="3337560" cy="41605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59" y="1645920"/>
            <a:ext cx="731520" cy="73152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91640" y="164592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Arial Narrow"/>
              </a:rPr>
              <a:t>At 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2057400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00AAF5"/>
                </a:solidFill>
                <a:latin typeface="Arial Narrow"/>
              </a:rPr>
              <a:t>Live from day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2651760"/>
            <a:ext cx="2834639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Arial Narrow"/>
              </a:rPr>
              <a:t>Barclays' brand on every sponsored learner’s profile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Arial Narrow"/>
              </a:rPr>
              <a:t>A Pioneer Sponsor place in banking, and the Pioneers’ Circle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Arial Narrow"/>
              </a:rPr>
              <a:t>Spotlights on our social media, blog and newsletters, with a “Sponsored 1000” feature at 1,000 learners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1417320"/>
            <a:ext cx="3337560" cy="41605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09159" y="1645920"/>
            <a:ext cx="731520" cy="731520"/>
          </a:xfrm>
          <a:prstGeom prst="ellipse">
            <a:avLst/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0094" y="1806854"/>
            <a:ext cx="409651" cy="40965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77840" y="164592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Arial Narrow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2057400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8AC247"/>
                </a:solidFill>
                <a:latin typeface="Arial Narrow"/>
              </a:rPr>
              <a:t>Recognition and 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2651760"/>
            <a:ext cx="2834639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Arial Narrow"/>
              </a:rPr>
              <a:t>Your profile page: CEO message, commitment to education and social impact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Arial Narrow"/>
              </a:rPr>
              <a:t>Competitions and awards in Barclays' name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Arial Narrow"/>
              </a:rPr>
              <a:t>Blog, podcast and interview features with Barclays colleagues as positive role models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1417320"/>
            <a:ext cx="3337560" cy="416052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0" y="1645920"/>
            <a:ext cx="731520" cy="731520"/>
          </a:xfrm>
          <a:prstGeom prst="ellipse">
            <a:avLst/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6294" y="1806854"/>
            <a:ext cx="409651" cy="40965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464040" y="1645920"/>
            <a:ext cx="2057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Arial Narrow"/>
              </a:rPr>
              <a:t>Later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2057400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B7791F"/>
                </a:solidFill>
                <a:latin typeface="Arial Narrow"/>
              </a:rPr>
              <a:t>Deeper connections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651760"/>
            <a:ext cx="2834639" cy="3017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Arial Narrow"/>
              </a:rPr>
              <a:t>Conversational mentoring, then full engagement, for Barclays colleagues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Arial Narrow"/>
              </a:rPr>
              <a:t>Work experience opportunities for learners</a:t>
            </a:r>
          </a:p>
          <a:p>
            <a:pPr algn="l" marL="228600" indent="-228600">
              <a:spcAft>
                <a:spcPts val="12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Arial Narrow"/>
              </a:rPr>
              <a:t>Kewordal for your own workforce, licensed in Barclays' 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3383280"/>
            <a:ext cx="502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600" b="1" i="0">
                <a:solidFill>
                  <a:srgbClr val="667085"/>
                </a:solidFill>
                <a:latin typeface="Arial Narrow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383280"/>
            <a:ext cx="5029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600" b="1" i="0">
                <a:solidFill>
                  <a:srgbClr val="667085"/>
                </a:solidFill>
                <a:latin typeface="Arial Narrow"/>
              </a:rPr>
              <a:t>→</a:t>
            </a:r>
          </a:p>
        </p:txBody>
      </p:sp>
      <p:sp>
        <p:nvSpPr>
          <p:cNvPr id="200" name="Rounded Rectangle 21"/>
          <p:cNvSpPr/>
          <p:nvPr/>
        </p:nvSpPr>
        <p:spPr>
          <a:xfrm>
            <a:off x="7543800" y="32004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FF6DA"/>
          </a:solidFill>
          <a:ln w="15875">
            <a:solidFill>
              <a:srgbClr val="FFC0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2"/>
          <p:cNvSpPr txBox="1"/>
          <p:nvPr/>
        </p:nvSpPr>
        <p:spPr>
          <a:xfrm>
            <a:off x="7680960" y="347472"/>
            <a:ext cx="3840480" cy="81381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50" b="1" i="0">
                <a:solidFill>
                  <a:srgbClr val="00AAF5"/>
                </a:solidFill>
                <a:latin typeface="Arial Narrow"/>
              </a:rPr>
              <a:t>For Barclays  </a:t>
            </a:r>
            <a:r>
              <a:rPr sz="1250" b="0" i="0">
                <a:solidFill>
                  <a:srgbClr val="222222"/>
                </a:solidFill>
                <a:latin typeface="Arial Narrow"/>
              </a:rPr>
              <a:t>Pioneer Sponsors are the first we talk to as each new opportunity arrives.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48640" y="5715000"/>
            <a:ext cx="11109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67085"/>
                </a:solidFill>
                <a:latin typeface="Arial Narrow"/>
              </a:rPr>
              <a:t>Next and Later items are on our roadmap, not yet live.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Next steps for Barclays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17</a:t>
            </a:r>
            <a:endParaRPr lang="en-US" sz="1000" dirty="0"/>
          </a:p>
        </p:txBody>
      </p:sp>
      <p:pic>
        <p:nvPicPr>
          <p:cNvPr id="22" name="Picture 21" descr="image79.jpeg"/>
          <p:cNvPicPr>
            <a:picLocks noChangeAspect="1"/>
          </p:cNvPicPr>
          <p:nvPr/>
        </p:nvPicPr>
        <p:blipFill>
          <a:blip r:embed="rId5"/>
          <a:srcRect l="30641" r="30641"/>
          <a:stretch>
            <a:fillRect/>
          </a:stretch>
        </p:blipFill>
        <p:spPr>
          <a:xfrm>
            <a:off x="548640" y="1371600"/>
            <a:ext cx="4206240" cy="484632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5120640" y="1417320"/>
            <a:ext cx="685800" cy="68580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417320"/>
            <a:ext cx="68580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371600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 Narrow"/>
              </a:rPr>
              <a:t>Choose your 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1764792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rial Narrow"/>
              </a:rPr>
              <a:t>From £2,995 for 24 learners to £100,000 for 1,200. Pioneer Sponsor places start at £25,000.</a:t>
            </a:r>
          </a:p>
        </p:txBody>
      </p:sp>
      <p:sp>
        <p:nvSpPr>
          <p:cNvPr id="27" name="Oval 26"/>
          <p:cNvSpPr/>
          <p:nvPr/>
        </p:nvSpPr>
        <p:spPr>
          <a:xfrm>
            <a:off x="5120640" y="2441448"/>
            <a:ext cx="685800" cy="685800"/>
          </a:xfrm>
          <a:prstGeom prst="ellipse">
            <a:avLst/>
          </a:prstGeom>
          <a:solidFill>
            <a:srgbClr val="8A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2441448"/>
            <a:ext cx="68580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395728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 Narrow"/>
              </a:rPr>
              <a:t>Secure a Pioneer Sponsor place in Banking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788920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rial Narrow"/>
              </a:rPr>
              <a:t>Three places in banking, each numbered and held permanently once confirmed.</a:t>
            </a:r>
          </a:p>
        </p:txBody>
      </p:sp>
      <p:sp>
        <p:nvSpPr>
          <p:cNvPr id="31" name="Oval 30"/>
          <p:cNvSpPr/>
          <p:nvPr/>
        </p:nvSpPr>
        <p:spPr>
          <a:xfrm>
            <a:off x="5120640" y="3465576"/>
            <a:ext cx="685800" cy="685800"/>
          </a:xfrm>
          <a:prstGeom prst="ellipse">
            <a:avLst/>
          </a:prstGeom>
          <a:solidFill>
            <a:srgbClr val="FFC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465576"/>
            <a:ext cx="68580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419856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 Narrow"/>
              </a:rPr>
              <a:t>Go live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813048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rial Narrow"/>
              </a:rPr>
              <a:t>Barclays' brand appears on every learner you sponsor, with your profile page to follow.</a:t>
            </a:r>
          </a:p>
        </p:txBody>
      </p:sp>
      <p:sp>
        <p:nvSpPr>
          <p:cNvPr id="35" name="Oval 34"/>
          <p:cNvSpPr/>
          <p:nvPr/>
        </p:nvSpPr>
        <p:spPr>
          <a:xfrm>
            <a:off x="5120640" y="4489704"/>
            <a:ext cx="685800" cy="685800"/>
          </a:xfrm>
          <a:prstGeom prst="ellipse">
            <a:avLst/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4489704"/>
            <a:ext cx="68580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Narrow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443984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 Narrow"/>
              </a:rPr>
              <a:t>Lead your sector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837176"/>
            <a:ext cx="5577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667085"/>
                </a:solidFill>
                <a:latin typeface="Arial Narrow"/>
              </a:rPr>
              <a:t>Join the Pioneers’ Circle and bring peer banks with you.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0640" y="5577840"/>
            <a:ext cx="6537960" cy="640080"/>
          </a:xfrm>
          <a:prstGeom prst="roundRect">
            <a:avLst>
              <a:gd name="adj" fmla="val 8000"/>
            </a:avLst>
          </a:prstGeom>
          <a:solidFill>
            <a:srgbClr val="00A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5577840"/>
            <a:ext cx="65379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Narrow"/>
              </a:rPr>
              <a:t>All you have to do is say yes:  </a:t>
            </a:r>
            <a:r>
              <a:rPr sz="1600" b="0" i="0">
                <a:solidFill>
                  <a:srgbClr val="FFFFFF"/>
                </a:solidFill>
                <a:latin typeface="Arial Narrow"/>
              </a:rPr>
              <a:t>michael.watson@kewordal.com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“Education is the most powerful weapon which you can use to change the world.”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Nelson Mandela, 2003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355848" y="32004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“Try to be a rainbow in someone’s cloud.”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355848" y="128016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Maya Angelou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163056" y="32004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“Alone we can do so little; together we can do so much.”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63056" y="128016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Helen Keller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970264" y="32004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“Imagination is more important than knowledge.”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70264" y="1280160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— Albert Einstein, 1929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0136" y="1737360"/>
            <a:ext cx="777240" cy="777240"/>
          </a:xfrm>
          <a:prstGeom prst="ellipse">
            <a:avLst/>
          </a:prstGeom>
          <a:solidFill>
            <a:srgbClr val="00AAF5"/>
          </a:solidFill>
          <a:ln w="12700">
            <a:solidFill>
              <a:srgbClr val="00AAF5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063" y="1837943"/>
            <a:ext cx="567385" cy="56738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2514600"/>
            <a:ext cx="10881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Our ambition: 10 million learners. 1 million mentors. A social learning education network built on and for positive role models to make the world a better place.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" y="4023360"/>
            <a:ext cx="8595360" cy="2194560"/>
          </a:xfrm>
          <a:prstGeom prst="roundRect">
            <a:avLst>
              <a:gd name="adj" fmla="val 8571"/>
            </a:avLst>
          </a:prstGeom>
          <a:solidFill>
            <a:srgbClr val="EEF2F6"/>
          </a:solidFill>
          <a:ln w="12700">
            <a:noFill/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77240" y="416052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sz="2000" b="1" i="0">
                <a:solidFill>
                  <a:srgbClr val="222222"/>
                </a:solidFill>
                <a:latin typeface="Arial Narrow"/>
              </a:rPr>
              <a:t>Join us, be our partners and pioneer with Kewordal.</a:t>
            </a:r>
            <a:endParaRPr lang="en-US" sz="1250" dirty="0"/>
          </a:p>
          <a:p>
            <a:pPr algn="ctr">
              <a:spcBef>
                <a:spcPts val="600"/>
              </a:spcBef>
            </a:pPr>
            <a:r>
              <a:rPr sz="1400" b="0" i="0" u="sng">
                <a:solidFill>
                  <a:srgbClr val="00AAF5"/>
                </a:solidFill>
                <a:latin typeface="Arial Narrow"/>
                <a:hlinkClick r:id="rId5"/>
              </a:rPr>
              <a:t>Watch our short video</a:t>
            </a:r>
          </a:p>
          <a:p>
            <a:pPr algn="ctr">
              <a:spcBef>
                <a:spcPts val="600"/>
              </a:spcBef>
            </a:pPr>
            <a:r>
              <a:rPr sz="1300" b="0" i="0">
                <a:solidFill>
                  <a:srgbClr val="222222"/>
                </a:solidFill>
                <a:latin typeface="Arial Narrow"/>
              </a:rPr>
              <a:t>We would be delighted to follow up about Barclays becoming a sponsor, and securing a Pioneer Sponsor place in banking while places remain.</a:t>
            </a:r>
          </a:p>
        </p:txBody>
      </p:sp>
      <p:sp>
        <p:nvSpPr>
          <p:cNvPr id="15" name="Text 12"/>
          <p:cNvSpPr/>
          <p:nvPr/>
        </p:nvSpPr>
        <p:spPr>
          <a:xfrm>
            <a:off x="777240" y="548640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Michael Watson, Founder &amp; CEO  |  PhD (Education), MSc, BSc, Dip HRM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7240" y="576072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115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michael.watson@kewordal.com  |  kewordal.com  |  +44 7742 274680  |  linkedin.com/in/drmichaelwatson</a:t>
            </a:r>
            <a:endParaRPr lang="en-US" sz="11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041648"/>
            <a:ext cx="1920240" cy="199801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Kewordal  |  Private &amp; Confidential  |  Prepared for Barclays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155680" y="6428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2026-10-05T17:25:53Z</dcterms:created>
  <dcterms:modified xsi:type="dcterms:W3CDTF">2026-10-05T17:25:53Z</dcterms:modified>
</cp:coreProperties>
</file>