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234613" cy="71040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61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859" tIns="43429" rIns="86859" bIns="43429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6859" tIns="43429" rIns="86859" bIns="43429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jpg"/><Relationship Id="rId15" Type="http://schemas.openxmlformats.org/officeDocument/2006/relationships/hyperlink" Target="https://keword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444" y="201168"/>
            <a:ext cx="2743200" cy="38644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660763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The Tech for Good, AI-powered social learning education network</a:t>
            </a:r>
            <a:endParaRPr lang="en-US" sz="1200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457200" y="916795"/>
            <a:ext cx="6647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667085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SPONSOR TEASER  ·  OCTOBER 2026  ·  PREPARED FOR BARCLAYS</a:t>
            </a:r>
            <a:endParaRPr lang="en-US" sz="700" dirty="0">
              <a:latin typeface="Arial Narrow" panose="020B0606020202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1133856"/>
            <a:ext cx="6830568" cy="914400"/>
          </a:xfrm>
          <a:prstGeom prst="roundRect">
            <a:avLst>
              <a:gd name="adj" fmla="val 16071"/>
            </a:avLst>
          </a:prstGeom>
          <a:solidFill>
            <a:srgbClr val="EEF1F7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" name="TextBox 98"/>
          <p:cNvSpPr txBox="1"/>
          <p:nvPr/>
        </p:nvSpPr>
        <p:spPr>
          <a:xfrm>
            <a:off x="548640" y="121615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1F54"/>
                </a:solidFill>
                <a:latin typeface="Arial Narrow"/>
              </a:rPr>
              <a:t>Barclays: become a Pioneer Sponsor in Banking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Kewordal is the vehicle for businesses to engage in education and social impact, globally. Sponsor learners, put Barclays’ brand in front of them, and help lead how banking supports learning.</a:t>
            </a:r>
          </a:p>
        </p:txBody>
      </p:sp>
      <p:sp>
        <p:nvSpPr>
          <p:cNvPr id="7" name="Shape 4"/>
          <p:cNvSpPr/>
          <p:nvPr/>
        </p:nvSpPr>
        <p:spPr>
          <a:xfrm>
            <a:off x="5596128" y="1261872"/>
            <a:ext cx="1463040" cy="65836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00" name="Picture 99" descr="barclay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3288" y="1487810"/>
            <a:ext cx="1188720" cy="206491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365760" y="2194560"/>
            <a:ext cx="201168" cy="201168"/>
          </a:xfrm>
          <a:prstGeom prst="ellipse">
            <a:avLst/>
          </a:prstGeom>
          <a:solidFill>
            <a:srgbClr val="FFC006"/>
          </a:solidFill>
          <a:ln w="12700">
            <a:solidFill>
              <a:srgbClr val="FFC006"/>
            </a:solidFill>
            <a:prstDash val="solid"/>
          </a:ln>
        </p:spPr>
        <p:txBody>
          <a:bodyPr/>
          <a:p/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2244852"/>
            <a:ext cx="104607" cy="104607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64008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YOUR CHALLENGE: BANKING</a:t>
            </a:r>
            <a:endParaRPr lang="en-US" sz="950" dirty="0">
              <a:latin typeface="Arial Narrow" panose="020B0606020202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2432304"/>
            <a:ext cx="6830568" cy="254203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01" name="Picture 100" descr="kit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064" y="2560320"/>
            <a:ext cx="2449286" cy="2286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3063240" y="2615184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1F54"/>
                </a:solidFill>
                <a:latin typeface="Arial Narrow"/>
              </a:rPr>
              <a:t>We built a Kewordal list on banking. Can Barclays beat Michael’s score?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63240" y="3127248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Arial Narrow"/>
              </a:rPr>
              <a:t>Ten keywords every banker should know. Every bank plays the same list, so you can see how Barclays compares with its peers. It takes two minutes.</a:t>
            </a:r>
          </a:p>
        </p:txBody>
      </p:sp>
      <p:sp>
        <p:nvSpPr>
          <p:cNvPr id="5" name="Shape 2"/>
          <p:cNvSpPr/>
          <p:nvPr/>
        </p:nvSpPr>
        <p:spPr>
          <a:xfrm>
            <a:off x="3063240" y="3639312"/>
            <a:ext cx="3977639" cy="566928"/>
          </a:xfrm>
          <a:prstGeom prst="roundRect">
            <a:avLst>
              <a:gd name="adj" fmla="val 16071"/>
            </a:avLst>
          </a:prstGeom>
          <a:solidFill>
            <a:srgbClr val="EEF1F7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4" name="TextBox 103"/>
          <p:cNvSpPr txBox="1"/>
          <p:nvPr/>
        </p:nvSpPr>
        <p:spPr>
          <a:xfrm>
            <a:off x="3227832" y="37307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67085"/>
                </a:solidFill>
                <a:latin typeface="Arial Narrow"/>
              </a:rPr>
              <a:t>Score to beat</a:t>
            </a:r>
          </a:p>
          <a:p>
            <a:pPr algn="l"/>
            <a:r>
              <a:rPr sz="900" b="1" i="0">
                <a:solidFill>
                  <a:srgbClr val="16213A"/>
                </a:solidFill>
                <a:latin typeface="Arial Narrow"/>
              </a:rPr>
              <a:t>Michael Watson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92040" y="365760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600" b="1" i="0">
                <a:solidFill>
                  <a:srgbClr val="00AAF5"/>
                </a:solidFill>
                <a:latin typeface="Arial Narrow"/>
              </a:rPr>
              <a:t>[X]/10</a:t>
            </a:r>
          </a:p>
        </p:txBody>
      </p:sp>
      <p:sp>
        <p:nvSpPr>
          <p:cNvPr id="106" name="Rounded Rectangle 105">
            <a:hlinkClick r:id="rId15"/>
          </p:cNvPr>
          <p:cNvSpPr/>
          <p:nvPr/>
        </p:nvSpPr>
        <p:spPr>
          <a:xfrm>
            <a:off x="3063240" y="4297680"/>
            <a:ext cx="3977639" cy="347472"/>
          </a:xfrm>
          <a:prstGeom prst="roundRect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63240" y="4297680"/>
            <a:ext cx="39776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 Narrow"/>
              </a:rPr>
              <a:t>Play the challenge:  </a:t>
            </a:r>
            <a:r>
              <a:rPr sz="1000" b="0" i="0">
                <a:solidFill>
                  <a:srgbClr val="FFFFFF"/>
                </a:solidFill>
                <a:latin typeface="Arial Narrow"/>
              </a:rPr>
              <a:t>[challenge link]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63240" y="470916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67085"/>
                </a:solidFill>
                <a:latin typeface="Arial Narrow"/>
              </a:rPr>
              <a:t>Share it with your team. Win or lose, you’ll have played Kewordal before we meet.</a:t>
            </a:r>
          </a:p>
        </p:txBody>
      </p:sp>
      <p:sp>
        <p:nvSpPr>
          <p:cNvPr id="17" name="Shape 12"/>
          <p:cNvSpPr/>
          <p:nvPr/>
        </p:nvSpPr>
        <p:spPr>
          <a:xfrm>
            <a:off x="365760" y="5102352"/>
            <a:ext cx="6830568" cy="384048"/>
          </a:xfrm>
          <a:prstGeom prst="roundRect">
            <a:avLst>
              <a:gd name="adj" fmla="val 22500"/>
            </a:avLst>
          </a:prstGeom>
          <a:solidFill>
            <a:srgbClr val="FFF8E5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9" name="TextBox 108"/>
          <p:cNvSpPr txBox="1"/>
          <p:nvPr/>
        </p:nvSpPr>
        <p:spPr>
          <a:xfrm>
            <a:off x="365760" y="5102352"/>
            <a:ext cx="6830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1">
                <a:solidFill>
                  <a:srgbClr val="001F54"/>
                </a:solidFill>
                <a:latin typeface="Arial Narrow"/>
              </a:rPr>
              <a:t>Three Pioneer Sponsor places in Banking. Offered while places remain.</a:t>
            </a:r>
          </a:p>
        </p:txBody>
      </p:sp>
      <p:sp>
        <p:nvSpPr>
          <p:cNvPr id="24" name="Shape 18"/>
          <p:cNvSpPr/>
          <p:nvPr/>
        </p:nvSpPr>
        <p:spPr>
          <a:xfrm>
            <a:off x="365760" y="5614416"/>
            <a:ext cx="201168" cy="201168"/>
          </a:xfrm>
          <a:prstGeom prst="ellipse">
            <a:avLst/>
          </a:prstGeom>
          <a:solidFill>
            <a:srgbClr val="8AC247"/>
          </a:solidFill>
          <a:ln w="12700">
            <a:solidFill>
              <a:srgbClr val="8AC247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5664707"/>
            <a:ext cx="104607" cy="1046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56144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BARCLAYS GAINS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65760" y="5852160"/>
            <a:ext cx="1636776" cy="804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0" name="TextBox 109"/>
          <p:cNvSpPr txBox="1"/>
          <p:nvPr/>
        </p:nvSpPr>
        <p:spPr>
          <a:xfrm>
            <a:off x="475488" y="5934456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1F54"/>
                </a:solidFill>
                <a:latin typeface="Arial Narrow"/>
              </a:rPr>
              <a:t>Influence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6213A"/>
                </a:solidFill>
                <a:latin typeface="Arial Narrow"/>
              </a:rPr>
              <a:t>Invested in global education and social impact, with a voice in how banking engages.</a:t>
            </a:r>
          </a:p>
        </p:txBody>
      </p:sp>
      <p:sp>
        <p:nvSpPr>
          <p:cNvPr id="7" name="Shape 4"/>
          <p:cNvSpPr/>
          <p:nvPr/>
        </p:nvSpPr>
        <p:spPr>
          <a:xfrm>
            <a:off x="2096719" y="5852160"/>
            <a:ext cx="1636776" cy="804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1" name="TextBox 110"/>
          <p:cNvSpPr txBox="1"/>
          <p:nvPr/>
        </p:nvSpPr>
        <p:spPr>
          <a:xfrm>
            <a:off x="2206447" y="5934456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1F54"/>
                </a:solidFill>
                <a:latin typeface="Arial Narrow"/>
              </a:rPr>
              <a:t>Reputation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6213A"/>
                </a:solidFill>
                <a:latin typeface="Arial Narrow"/>
              </a:rPr>
              <a:t>Barclays’ brand on the profile of every learner it sponsors, from launch.</a:t>
            </a:r>
          </a:p>
        </p:txBody>
      </p:sp>
      <p:sp>
        <p:nvSpPr>
          <p:cNvPr id="7" name="Shape 4"/>
          <p:cNvSpPr/>
          <p:nvPr/>
        </p:nvSpPr>
        <p:spPr>
          <a:xfrm>
            <a:off x="3827678" y="5852160"/>
            <a:ext cx="1636776" cy="804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2" name="TextBox 111"/>
          <p:cNvSpPr txBox="1"/>
          <p:nvPr/>
        </p:nvSpPr>
        <p:spPr>
          <a:xfrm>
            <a:off x="3937406" y="5934456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1F54"/>
                </a:solidFill>
                <a:latin typeface="Arial Narrow"/>
              </a:rPr>
              <a:t>Opportunities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6213A"/>
                </a:solidFill>
                <a:latin typeface="Arial Narrow"/>
              </a:rPr>
              <a:t>Your people share their expertise through Kewordal lists, then mentoring and work experience.</a:t>
            </a:r>
          </a:p>
        </p:txBody>
      </p:sp>
      <p:sp>
        <p:nvSpPr>
          <p:cNvPr id="7" name="Shape 4"/>
          <p:cNvSpPr/>
          <p:nvPr/>
        </p:nvSpPr>
        <p:spPr>
          <a:xfrm>
            <a:off x="5558637" y="5852160"/>
            <a:ext cx="1636776" cy="804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3" name="TextBox 112"/>
          <p:cNvSpPr txBox="1"/>
          <p:nvPr/>
        </p:nvSpPr>
        <p:spPr>
          <a:xfrm>
            <a:off x="5668365" y="5934456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1F54"/>
                </a:solidFill>
                <a:latin typeface="Arial Narrow"/>
              </a:rPr>
              <a:t>Networks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6213A"/>
                </a:solidFill>
                <a:latin typeface="Arial Narrow"/>
              </a:rPr>
              <a:t>The Pioneers’ Circle: shape your sector’s contribution alongside your peers.</a:t>
            </a:r>
          </a:p>
        </p:txBody>
      </p:sp>
      <p:sp>
        <p:nvSpPr>
          <p:cNvPr id="19" name="Shape 14"/>
          <p:cNvSpPr/>
          <p:nvPr/>
        </p:nvSpPr>
        <p:spPr>
          <a:xfrm>
            <a:off x="365760" y="6821424"/>
            <a:ext cx="201168" cy="201168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871716"/>
            <a:ext cx="104607" cy="1046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68214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50" dirty="0">
              <a:latin typeface="Arial Narrow" panose="020B0606020202030204" pitchFamily="34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365760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4" name="TextBox 113"/>
          <p:cNvSpPr txBox="1"/>
          <p:nvPr/>
        </p:nvSpPr>
        <p:spPr>
          <a:xfrm>
            <a:off x="365760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2336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Pioneer places in Banking</a:t>
            </a:r>
          </a:p>
        </p:txBody>
      </p:sp>
      <p:sp>
        <p:nvSpPr>
          <p:cNvPr id="27" name="Shape 20"/>
          <p:cNvSpPr/>
          <p:nvPr/>
        </p:nvSpPr>
        <p:spPr>
          <a:xfrm>
            <a:off x="1519732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6" name="TextBox 115"/>
          <p:cNvSpPr txBox="1"/>
          <p:nvPr/>
        </p:nvSpPr>
        <p:spPr>
          <a:xfrm>
            <a:off x="1519732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99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6308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in 33 sectors and growing</a:t>
            </a:r>
          </a:p>
        </p:txBody>
      </p:sp>
      <p:sp>
        <p:nvSpPr>
          <p:cNvPr id="27" name="Shape 20"/>
          <p:cNvSpPr/>
          <p:nvPr/>
        </p:nvSpPr>
        <p:spPr>
          <a:xfrm>
            <a:off x="2673705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8" name="TextBox 117"/>
          <p:cNvSpPr txBox="1"/>
          <p:nvPr/>
        </p:nvSpPr>
        <p:spPr>
          <a:xfrm>
            <a:off x="2673705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No. 1–3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10281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numbered permanently</a:t>
            </a:r>
          </a:p>
        </p:txBody>
      </p:sp>
      <p:sp>
        <p:nvSpPr>
          <p:cNvPr id="27" name="Shape 20"/>
          <p:cNvSpPr/>
          <p:nvPr/>
        </p:nvSpPr>
        <p:spPr>
          <a:xfrm>
            <a:off x="3827678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0" name="TextBox 119"/>
          <p:cNvSpPr txBox="1"/>
          <p:nvPr/>
        </p:nvSpPr>
        <p:spPr>
          <a:xfrm>
            <a:off x="3827678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£2,995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64254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packages from, per year</a:t>
            </a:r>
          </a:p>
        </p:txBody>
      </p:sp>
      <p:sp>
        <p:nvSpPr>
          <p:cNvPr id="27" name="Shape 20"/>
          <p:cNvSpPr/>
          <p:nvPr/>
        </p:nvSpPr>
        <p:spPr>
          <a:xfrm>
            <a:off x="4981651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2" name="TextBox 121"/>
          <p:cNvSpPr txBox="1"/>
          <p:nvPr/>
        </p:nvSpPr>
        <p:spPr>
          <a:xfrm>
            <a:off x="4981651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£25k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18227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Pioneer Sponsor from</a:t>
            </a:r>
          </a:p>
        </p:txBody>
      </p:sp>
      <p:sp>
        <p:nvSpPr>
          <p:cNvPr id="27" name="Shape 20"/>
          <p:cNvSpPr/>
          <p:nvPr/>
        </p:nvSpPr>
        <p:spPr>
          <a:xfrm>
            <a:off x="6135624" y="7059168"/>
            <a:ext cx="1060704" cy="493776"/>
          </a:xfrm>
          <a:prstGeom prst="roundRect">
            <a:avLst>
              <a:gd name="adj" fmla="val 17308"/>
            </a:avLst>
          </a:prstGeom>
          <a:solidFill>
            <a:srgbClr val="F1F8EA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4" name="TextBox 123"/>
          <p:cNvSpPr txBox="1"/>
          <p:nvPr/>
        </p:nvSpPr>
        <p:spPr>
          <a:xfrm>
            <a:off x="6135624" y="709574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F54"/>
                </a:solidFill>
                <a:latin typeface="Arial Narrow"/>
              </a:rPr>
              <a:t>1,000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2200" y="732434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rial Narrow"/>
              </a:rPr>
              <a:t>learners: we celebrate</a:t>
            </a:r>
          </a:p>
        </p:txBody>
      </p:sp>
      <p:sp>
        <p:nvSpPr>
          <p:cNvPr id="60" name="Shape 51"/>
          <p:cNvSpPr/>
          <p:nvPr/>
        </p:nvSpPr>
        <p:spPr>
          <a:xfrm>
            <a:off x="365760" y="7699248"/>
            <a:ext cx="201168" cy="201168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7749540"/>
            <a:ext cx="104607" cy="104607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640080" y="7699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IN THE FULL DECK</a:t>
            </a:r>
            <a:endParaRPr lang="en-US" sz="950" dirty="0">
              <a:latin typeface="Arial Narrow" panose="020B0606020202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7936992"/>
            <a:ext cx="6830568" cy="102412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6" name="TextBox 125"/>
          <p:cNvSpPr txBox="1"/>
          <p:nvPr/>
        </p:nvSpPr>
        <p:spPr>
          <a:xfrm>
            <a:off x="530352" y="8074152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Barclays and Kewordal at a glance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A second challenge, built around your own career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What Barclays’ sponsorship looks like on Kewordal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Pioneer Sponsor places and the Pioneers’ Circle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86200" y="8074152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Packages, from 24 to 1,200 learners a year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Built on proven experience, and the team behind it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How we celebrate Barclays: Sponsored 1000 and Spotlight</a:t>
            </a:r>
          </a:p>
          <a:p>
            <a:pPr algn="l" marL="101600" indent="-101600">
              <a:spcAft>
                <a:spcPts val="400"/>
              </a:spcAft>
              <a:buChar char="•"/>
            </a:pPr>
            <a:r>
              <a:rPr sz="900" b="0" i="0">
                <a:solidFill>
                  <a:srgbClr val="16213A"/>
                </a:solidFill>
                <a:latin typeface="Arial Narrow"/>
              </a:rPr>
              <a:t>What’s coming: profile page, competitions, mentoring</a:t>
            </a:r>
          </a:p>
        </p:txBody>
      </p:sp>
      <p:sp>
        <p:nvSpPr>
          <p:cNvPr id="93" name="Shape 81"/>
          <p:cNvSpPr/>
          <p:nvPr/>
        </p:nvSpPr>
        <p:spPr>
          <a:xfrm>
            <a:off x="365760" y="9337902"/>
            <a:ext cx="6830568" cy="786384"/>
          </a:xfrm>
          <a:prstGeom prst="roundRect">
            <a:avLst>
              <a:gd name="adj" fmla="val 10465"/>
            </a:avLst>
          </a:prstGeom>
          <a:solidFill>
            <a:srgbClr val="EEF1F7"/>
          </a:solidFill>
          <a:ln w="9525">
            <a:solidFill>
              <a:srgbClr val="E4E9F0"/>
            </a:solidFill>
            <a:prstDash val="solid"/>
          </a:ln>
          <a:effectLst>
            <a:outerShdw blurRad="50800" dist="19050" dir="5400000" algn="bl" rotWithShape="0">
              <a:srgbClr val="001F54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4" name="Text 82"/>
          <p:cNvSpPr txBox="1"/>
          <p:nvPr/>
        </p:nvSpPr>
        <p:spPr>
          <a:xfrm>
            <a:off x="512064" y="942934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We would be delighted to send you the full deck, and to follow up about Barclays becoming a Pioneer Sponsor in banking.</a:t>
            </a:r>
            <a:endParaRPr lang="en-US" sz="850" dirty="0">
              <a:latin typeface="Arial Narrow" panose="020B0606020202030204" pitchFamily="34" charset="0"/>
            </a:endParaRPr>
          </a:p>
        </p:txBody>
      </p:sp>
      <p:sp>
        <p:nvSpPr>
          <p:cNvPr id="95" name="Text 83"/>
          <p:cNvSpPr txBox="1"/>
          <p:nvPr/>
        </p:nvSpPr>
        <p:spPr>
          <a:xfrm>
            <a:off x="512064" y="970366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1F54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Michael Watson, Founder &amp; CEO  |  PhD (Education), MSc, BSc, Dip HRM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96" name="Text 84"/>
          <p:cNvSpPr txBox="1"/>
          <p:nvPr/>
        </p:nvSpPr>
        <p:spPr>
          <a:xfrm>
            <a:off x="512064" y="988654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667085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michael.watson@kewordal.com  |  kewordal.com  |  +44 7742 274680  |  linkedin.com/in/drmichaelwatson</a:t>
            </a:r>
            <a:endParaRPr lang="en-US" sz="740" dirty="0">
              <a:latin typeface="Arial Narrow" panose="020B0606020202030204" pitchFamily="34" charset="0"/>
            </a:endParaRPr>
          </a:p>
        </p:txBody>
      </p:sp>
      <p:pic>
        <p:nvPicPr>
          <p:cNvPr id="9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9667086"/>
            <a:ext cx="420624" cy="437659"/>
          </a:xfrm>
          <a:prstGeom prst="rect">
            <a:avLst/>
          </a:prstGeom>
        </p:spPr>
      </p:pic>
      <p:sp>
        <p:nvSpPr>
          <p:cNvPr id="98" name="Text 85"/>
          <p:cNvSpPr txBox="1"/>
          <p:nvPr/>
        </p:nvSpPr>
        <p:spPr>
          <a:xfrm>
            <a:off x="365760" y="10208074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7085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Prepared for Barclays; name and logo shown for illustration only. Pioneer Sponsor places are offered while places remain. Roadmap features are not yet live.</a:t>
            </a:r>
            <a:endParaRPr lang="en-US" sz="65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632</Words>
  <Application>Microsoft Office PowerPoint</Application>
  <PresentationFormat>Custom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Narrow</vt:lpstr>
      <vt:lpstr>Arial</vt:lpstr>
      <vt:lpstr>Arial Narrow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Kewordal - Investor Teaser (Final)</dc:title>
  <dc:subject>PptxGenJS Presentation</dc:subject>
  <dc:creator>PptxGenJS</dc:creator>
  <cp:lastModifiedBy>Dr Mike</cp:lastModifiedBy>
  <cp:revision>7</cp:revision>
  <cp:lastPrinted>2026-09-22T19:55:04Z</cp:lastPrinted>
  <dcterms:created xsi:type="dcterms:W3CDTF">2026-09-22T19:51:25Z</dcterms:created>
  <dcterms:modified xsi:type="dcterms:W3CDTF">2026-09-22T20:44:03Z</dcterms:modified>
</cp:coreProperties>
</file>